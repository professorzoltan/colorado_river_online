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B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3D8FA8">
              <a:alpha val="18000"/>
            </a:srgbClr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06908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12394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19709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25196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30682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37997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74320"/>
            <a:ext cx="201168" cy="201168"/>
          </a:xfrm>
          <a:prstGeom prst="rect">
            <a:avLst/>
          </a:prstGeom>
          <a:solidFill>
            <a:srgbClr val="C8A550">
              <a:alpha val="60000"/>
            </a:srgbClr>
          </a:solidFill>
          <a:ln w="19050">
            <a:solidFill>
              <a:srgbClr val="C8A5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274320"/>
            <a:ext cx="201168" cy="201168"/>
          </a:xfrm>
          <a:prstGeom prst="rect">
            <a:avLst/>
          </a:prstGeom>
          <a:solidFill>
            <a:srgbClr val="C8A550">
              <a:alpha val="60000"/>
            </a:srgbClr>
          </a:solidFill>
          <a:ln w="19050">
            <a:solidFill>
              <a:srgbClr val="C8A5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4617720"/>
            <a:ext cx="201168" cy="201168"/>
          </a:xfrm>
          <a:prstGeom prst="rect">
            <a:avLst/>
          </a:prstGeom>
          <a:solidFill>
            <a:srgbClr val="C8A550">
              <a:alpha val="60000"/>
            </a:srgbClr>
          </a:solidFill>
          <a:ln w="19050">
            <a:solidFill>
              <a:srgbClr val="C8A5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0" y="4617720"/>
            <a:ext cx="201168" cy="201168"/>
          </a:xfrm>
          <a:prstGeom prst="rect">
            <a:avLst/>
          </a:prstGeom>
          <a:solidFill>
            <a:srgbClr val="C8A550">
              <a:alpha val="60000"/>
            </a:srgbClr>
          </a:solidFill>
          <a:ln w="19050">
            <a:solidFill>
              <a:srgbClr val="C8A5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658368"/>
            <a:ext cx="8046720" cy="0"/>
          </a:xfrm>
          <a:prstGeom prst="line">
            <a:avLst/>
          </a:prstGeom>
          <a:noFill/>
          <a:ln w="10160">
            <a:solidFill>
              <a:srgbClr val="8A6E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713232"/>
            <a:ext cx="8046720" cy="0"/>
          </a:xfrm>
          <a:prstGeom prst="line">
            <a:avLst/>
          </a:prstGeom>
          <a:noFill/>
          <a:ln w="5080">
            <a:solidFill>
              <a:srgbClr val="7A3A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777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1000" kern="0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LAW OF THE RIVER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57200" y="16642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600" kern="0" dirty="0">
                <a:solidFill>
                  <a:srgbClr val="C461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COLORADO RIVER WATER RIGHTS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208483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Control the river. Build your claim. Outlast your rivals.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2505456"/>
            <a:ext cx="8046720" cy="0"/>
          </a:xfrm>
          <a:prstGeom prst="line">
            <a:avLst/>
          </a:prstGeom>
          <a:noFill/>
          <a:ln w="10160">
            <a:solidFill>
              <a:srgbClr val="8A6E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DB8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2–6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097280" y="34015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2608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DB8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2926080" y="34015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75488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DB8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4754880" y="34015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FACTIONS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58368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DB8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583680" y="34015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7200" y="44074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500" kern="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OFFICIAL RULEBOOK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0118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OVERVIEW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5648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14400"/>
            <a:ext cx="42062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CDEC6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Law of the River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 is a 2–6 player strategy game of water rights, political influence, and legal combat set along the Colorado River.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Each player represents a State or Native Reservation vying for control of the river. Build projects, hire lawyers, organize activists, and argue your case before the Supreme Court.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868680"/>
            <a:ext cx="3840480" cy="2377440"/>
          </a:xfrm>
          <a:prstGeom prst="rect">
            <a:avLst/>
          </a:prstGeom>
          <a:solidFill>
            <a:srgbClr val="1F1A12"/>
          </a:solidFill>
          <a:ln w="12700">
            <a:solidFill>
              <a:srgbClr val="564835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FACTIONS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0" y="1216152"/>
            <a:ext cx="3474720" cy="0"/>
          </a:xfrm>
          <a:prstGeom prst="line">
            <a:avLst/>
          </a:prstGeom>
          <a:noFill/>
          <a:ln w="6350">
            <a:solidFill>
              <a:srgbClr val="5648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0" y="1344168"/>
            <a:ext cx="73152" cy="73152"/>
          </a:xfrm>
          <a:prstGeom prst="ellipse">
            <a:avLst/>
          </a:prstGeom>
          <a:solidFill>
            <a:srgbClr val="C4612A"/>
          </a:solidFill>
          <a:ln/>
        </p:spPr>
      </p:sp>
      <p:sp>
        <p:nvSpPr>
          <p:cNvPr id="12" name="Text 10"/>
          <p:cNvSpPr/>
          <p:nvPr/>
        </p:nvSpPr>
        <p:spPr>
          <a:xfrm>
            <a:off x="5138928" y="12984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61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ARIZONA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75120" y="1298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◈4  $3  ★2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0" y="1645920"/>
            <a:ext cx="73152" cy="73152"/>
          </a:xfrm>
          <a:prstGeom prst="ellipse">
            <a:avLst/>
          </a:prstGeom>
          <a:solidFill>
            <a:srgbClr val="3D8FA8"/>
          </a:solidFill>
          <a:ln/>
        </p:spPr>
      </p:sp>
      <p:sp>
        <p:nvSpPr>
          <p:cNvPr id="15" name="Text 13"/>
          <p:cNvSpPr/>
          <p:nvPr/>
        </p:nvSpPr>
        <p:spPr>
          <a:xfrm>
            <a:off x="5138928" y="16002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CALIFORNIA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75120" y="16002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◈5  $3  ★0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0" y="1947672"/>
            <a:ext cx="73152" cy="73152"/>
          </a:xfrm>
          <a:prstGeom prst="ellipse">
            <a:avLst/>
          </a:prstGeom>
          <a:solidFill>
            <a:srgbClr val="C8A550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19019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NEVADA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675120" y="19019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◈3  $4  ★1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0" y="2249424"/>
            <a:ext cx="73152" cy="73152"/>
          </a:xfrm>
          <a:prstGeom prst="ellipse">
            <a:avLst/>
          </a:prstGeom>
          <a:solidFill>
            <a:srgbClr val="7EB87E"/>
          </a:solidFill>
          <a:ln/>
        </p:spPr>
      </p:sp>
      <p:sp>
        <p:nvSpPr>
          <p:cNvPr id="21" name="Text 19"/>
          <p:cNvSpPr/>
          <p:nvPr/>
        </p:nvSpPr>
        <p:spPr>
          <a:xfrm>
            <a:off x="5138928" y="22037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CHEMEHUEVI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75120" y="2203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◈3  $2  ★4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0" y="2551176"/>
            <a:ext cx="73152" cy="73152"/>
          </a:xfrm>
          <a:prstGeom prst="ellipse">
            <a:avLst/>
          </a:prstGeom>
          <a:solidFill>
            <a:srgbClr val="5DB8D4"/>
          </a:solidFill>
          <a:ln/>
        </p:spPr>
      </p:sp>
      <p:sp>
        <p:nvSpPr>
          <p:cNvPr id="24" name="Text 22"/>
          <p:cNvSpPr/>
          <p:nvPr/>
        </p:nvSpPr>
        <p:spPr>
          <a:xfrm>
            <a:off x="5138928" y="25054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B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 MOHAVE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675120" y="25054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◈3  $3  ★3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9200" y="2852928"/>
            <a:ext cx="73152" cy="73152"/>
          </a:xfrm>
          <a:prstGeom prst="ellipse">
            <a:avLst/>
          </a:prstGeom>
          <a:solidFill>
            <a:srgbClr val="7EB87E"/>
          </a:solidFill>
          <a:ln/>
        </p:spPr>
      </p:sp>
      <p:sp>
        <p:nvSpPr>
          <p:cNvPr id="27" name="Text 25"/>
          <p:cNvSpPr/>
          <p:nvPr/>
        </p:nvSpPr>
        <p:spPr>
          <a:xfrm>
            <a:off x="5138928" y="2807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QUECHAN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75120" y="28072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◈3  $2  ★5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0" y="30723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= Water Rights  $ = Money  ★ = PR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57200" y="2450592"/>
            <a:ext cx="4206240" cy="2304288"/>
          </a:xfrm>
          <a:prstGeom prst="rect">
            <a:avLst/>
          </a:prstGeom>
          <a:solidFill>
            <a:srgbClr val="1F1A12"/>
          </a:solidFill>
          <a:ln w="12700">
            <a:solidFill>
              <a:srgbClr val="8A6E30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2450592"/>
            <a:ext cx="4206240" cy="292608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4871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TO WIN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2907792"/>
            <a:ext cx="73152" cy="73152"/>
          </a:xfrm>
          <a:prstGeom prst="ellipse">
            <a:avLst/>
          </a:prstGeom>
          <a:solidFill>
            <a:srgbClr val="C8A550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" y="28529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 Milestones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94944" y="303580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Reach ◈6/11/17/22, $19, or ★6/11 to earn VP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3346704"/>
            <a:ext cx="73152" cy="73152"/>
          </a:xfrm>
          <a:prstGeom prst="ellipse">
            <a:avLst/>
          </a:prstGeom>
          <a:solidFill>
            <a:srgbClr val="C4612A"/>
          </a:solidFill>
          <a:ln/>
        </p:spPr>
      </p:sp>
      <p:sp>
        <p:nvSpPr>
          <p:cNvPr id="37" name="Text 35"/>
          <p:cNvSpPr/>
          <p:nvPr/>
        </p:nvSpPr>
        <p:spPr>
          <a:xfrm>
            <a:off x="694944" y="3291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61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 Court Wins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94944" y="34747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Win a Supreme Court case: +1◈ +3VP +1★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785616"/>
            <a:ext cx="73152" cy="73152"/>
          </a:xfrm>
          <a:prstGeom prst="ellipse">
            <a:avLst/>
          </a:prstGeom>
          <a:solidFill>
            <a:srgbClr val="3D8FA8"/>
          </a:solidFill>
          <a:ln/>
        </p:spPr>
      </p:sp>
      <p:sp>
        <p:nvSpPr>
          <p:cNvPr id="40" name="Text 38"/>
          <p:cNvSpPr/>
          <p:nvPr/>
        </p:nvSpPr>
        <p:spPr>
          <a:xfrm>
            <a:off x="694944" y="373075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D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94944" y="39136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Fully water your Farm, Housing, Firefighting, Factory, Vineyard, or Recreation projects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66928" y="4224528"/>
            <a:ext cx="73152" cy="73152"/>
          </a:xfrm>
          <a:prstGeom prst="ellipse">
            <a:avLst/>
          </a:prstGeom>
          <a:solidFill>
            <a:srgbClr val="7EB87E"/>
          </a:solidFill>
          <a:ln/>
        </p:spPr>
      </p:sp>
      <p:sp>
        <p:nvSpPr>
          <p:cNvPr id="43" name="Text 41"/>
          <p:cNvSpPr/>
          <p:nvPr/>
        </p:nvSpPr>
        <p:spPr>
          <a:xfrm>
            <a:off x="694944" y="41696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 VP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4944" y="435254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Citizens and Activists carry VP values counted at game end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846320" y="3383280"/>
            <a:ext cx="3840480" cy="1554480"/>
          </a:xfrm>
          <a:prstGeom prst="rect">
            <a:avLst/>
          </a:prstGeom>
          <a:solidFill>
            <a:srgbClr val="1F1A12"/>
          </a:solidFill>
          <a:ln w="12700">
            <a:solidFill>
              <a:srgbClr val="564835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029200" y="34747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VP MILESTONE CHART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029200" y="3703320"/>
            <a:ext cx="3474720" cy="0"/>
          </a:xfrm>
          <a:prstGeom prst="line">
            <a:avLst/>
          </a:prstGeom>
          <a:noFill/>
          <a:ln w="6350">
            <a:solidFill>
              <a:srgbClr val="56483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0" y="37947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6  →  ★1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0" y="40873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11  →  ★2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029200" y="437997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17  →  ★3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029200" y="46725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22  →  ★5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309360" y="37947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$ 19  →  ★5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309360" y="40873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 6  →  ★2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89520" y="437997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 11  →  ★5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0118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STRUCTURE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5648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Each round follows four phases in order. A game lasts 10 rounds.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2011680" cy="475488"/>
          </a:xfrm>
          <a:prstGeom prst="rect">
            <a:avLst/>
          </a:prstGeom>
          <a:solidFill>
            <a:srgbClr val="C8A550">
              <a:alpha val="22000"/>
            </a:srgbClr>
          </a:solidFill>
          <a:ln w="19050">
            <a:solidFill>
              <a:srgbClr val="C8A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2070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8368" y="124358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 SETUP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664208"/>
            <a:ext cx="2011680" cy="309067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664208"/>
            <a:ext cx="50292" cy="3090672"/>
          </a:xfrm>
          <a:prstGeom prst="rect">
            <a:avLst/>
          </a:prstGeom>
          <a:solidFill>
            <a:srgbClr val="C8A550"/>
          </a:solidFill>
          <a:ln w="12700">
            <a:solidFill>
              <a:srgbClr val="C8A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773936"/>
            <a:ext cx="1883664" cy="2944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ECDEC6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Pass the 1st-player marker clockwise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Each player gains Water Claims = their Water Rights track value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Each player gains Money = their Money track value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50592" y="1170432"/>
            <a:ext cx="2011680" cy="475488"/>
          </a:xfrm>
          <a:prstGeom prst="rect">
            <a:avLst/>
          </a:prstGeom>
          <a:solidFill>
            <a:srgbClr val="C4612A">
              <a:alpha val="22000"/>
            </a:srgbClr>
          </a:solidFill>
          <a:ln w="19050">
            <a:solidFill>
              <a:srgbClr val="C461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50592" y="12070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6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834640" y="124358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C461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NEGOTIATE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450592" y="1664208"/>
            <a:ext cx="2011680" cy="309067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450592" y="1664208"/>
            <a:ext cx="50292" cy="3090672"/>
          </a:xfrm>
          <a:prstGeom prst="rect">
            <a:avLst/>
          </a:prstGeom>
          <a:solidFill>
            <a:srgbClr val="C4612A"/>
          </a:solidFill>
          <a:ln w="12700">
            <a:solidFill>
              <a:srgbClr val="C461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42032" y="1773936"/>
            <a:ext cx="1883664" cy="2944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ECDEC6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Beginning with the 1st-player marker holder, players take turns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On your turn: use a Lawyer/Activist (N ability), play a Strategy card (N only), buy a Partnership, or Pass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Phase ends when all players Pass consecutively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26864" y="1170432"/>
            <a:ext cx="2011680" cy="475488"/>
          </a:xfrm>
          <a:prstGeom prst="rect">
            <a:avLst/>
          </a:prstGeom>
          <a:solidFill>
            <a:srgbClr val="3D8FA8">
              <a:alpha val="22000"/>
            </a:srgbClr>
          </a:solidFill>
          <a:ln w="19050">
            <a:solidFill>
              <a:srgbClr val="3D8F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12070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8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010912" y="124358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3D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26864" y="1664208"/>
            <a:ext cx="2011680" cy="309067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26864" y="1664208"/>
            <a:ext cx="50292" cy="3090672"/>
          </a:xfrm>
          <a:prstGeom prst="rect">
            <a:avLst/>
          </a:prstGeom>
          <a:solidFill>
            <a:srgbClr val="3D8FA8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1773936"/>
            <a:ext cx="1883664" cy="2944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ECDEC6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Flip an Event card and resolve it (rounds 2–7 only)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Place water = sum of all Water Rights tracks (±event modifier)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Players take turns: use Lawyer/Activist C, play Strategy C, buy Partnership, spend 1◈ → place water on project, or Pass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Phase ends when all players Pass consecutively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803136" y="1170432"/>
            <a:ext cx="2011680" cy="475488"/>
          </a:xfrm>
          <a:prstGeom prst="rect">
            <a:avLst/>
          </a:prstGeom>
          <a:solidFill>
            <a:srgbClr val="7EB87E">
              <a:alpha val="22000"/>
            </a:srgbClr>
          </a:solidFill>
          <a:ln w="19050">
            <a:solidFill>
              <a:srgbClr val="7EB87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03136" y="12070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EB8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187184" y="1243584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STEP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803136" y="1664208"/>
            <a:ext cx="2011680" cy="309067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803136" y="1664208"/>
            <a:ext cx="50292" cy="3090672"/>
          </a:xfrm>
          <a:prstGeom prst="rect">
            <a:avLst/>
          </a:prstGeom>
          <a:solidFill>
            <a:srgbClr val="7EB87E"/>
          </a:solidFill>
          <a:ln w="12700">
            <a:solidFill>
              <a:srgbClr val="7EB87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94576" y="1773936"/>
            <a:ext cx="1883664" cy="2944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ECDEC6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Grant rewards for fully-watered projects (starting with 1st player)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Round 3+: players with leftover Water Claims OR water on an incomplete project lose 1 Water Rights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Remove all leftover Water Claims</a:t>
            </a:r>
            <a:endParaRPr lang="en-US" sz="9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Reset exhausted cards; check discard conditions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450592" y="1408176"/>
            <a:ext cx="256032" cy="0"/>
          </a:xfrm>
          <a:prstGeom prst="line">
            <a:avLst/>
          </a:prstGeom>
          <a:noFill/>
          <a:ln w="19050">
            <a:solidFill>
              <a:srgbClr val="7A624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41448" y="13350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6248"/>
                </a:solidFill>
              </a:rPr>
              <a:t>▶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626864" y="1408176"/>
            <a:ext cx="256032" cy="0"/>
          </a:xfrm>
          <a:prstGeom prst="line">
            <a:avLst/>
          </a:prstGeom>
          <a:noFill/>
          <a:ln w="19050">
            <a:solidFill>
              <a:srgbClr val="7A62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17720" y="13350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6248"/>
                </a:solidFill>
              </a:rPr>
              <a:t>▶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803136" y="1408176"/>
            <a:ext cx="256032" cy="0"/>
          </a:xfrm>
          <a:prstGeom prst="line">
            <a:avLst/>
          </a:prstGeom>
          <a:noFill/>
          <a:ln w="19050">
            <a:solidFill>
              <a:srgbClr val="7A624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93992" y="13350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6248"/>
                </a:solidFill>
              </a:rPr>
              <a:t>▶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74320" y="4736592"/>
            <a:ext cx="8595360" cy="274320"/>
          </a:xfrm>
          <a:prstGeom prst="rect">
            <a:avLst/>
          </a:prstGeom>
          <a:solidFill>
            <a:srgbClr val="29221A"/>
          </a:solidFill>
          <a:ln w="12700">
            <a:solidFill>
              <a:srgbClr val="C8606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754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 Events are active rounds 2–7. In rounds 1 and 8–10, the Event step is skipped.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0118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RESOURCES &amp; TRACKS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5648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868680"/>
            <a:ext cx="1042416" cy="713232"/>
          </a:xfrm>
          <a:prstGeom prst="rect">
            <a:avLst/>
          </a:prstGeom>
          <a:solidFill>
            <a:srgbClr val="29221A"/>
          </a:solidFill>
          <a:ln w="19050">
            <a:solidFill>
              <a:srgbClr val="5DB8D4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" y="886968"/>
            <a:ext cx="1042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DB8D4"/>
                </a:solidFill>
              </a:rPr>
              <a:t>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47472" y="1207008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01752" y="1664208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Track position. Income source. VP milestones at 6/11/17/22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72768" y="868680"/>
            <a:ext cx="1042416" cy="713232"/>
          </a:xfrm>
          <a:prstGeom prst="rect">
            <a:avLst/>
          </a:prstGeom>
          <a:solidFill>
            <a:srgbClr val="29221A"/>
          </a:solidFill>
          <a:ln w="19050">
            <a:solidFill>
              <a:srgbClr val="3D8FA8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572768" y="886968"/>
            <a:ext cx="1042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D8FA8"/>
                </a:solidFill>
              </a:rPr>
              <a:t>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72768" y="1207008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527048" y="1664208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Tokens granted each round = your Water Rights value. Spent to water projects.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98064" y="868680"/>
            <a:ext cx="1042416" cy="713232"/>
          </a:xfrm>
          <a:prstGeom prst="rect">
            <a:avLst/>
          </a:prstGeom>
          <a:solidFill>
            <a:srgbClr val="29221A"/>
          </a:solidFill>
          <a:ln w="19050">
            <a:solidFill>
              <a:srgbClr val="3D8FA8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98064" y="886968"/>
            <a:ext cx="1042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D8FA8"/>
                </a:solidFill>
              </a:rPr>
              <a:t>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798064" y="1207008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CUBES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752344" y="1664208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Physical water. Used for SC influence, Water Bank, and Water Bribe.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023360" y="868680"/>
            <a:ext cx="1042416" cy="713232"/>
          </a:xfrm>
          <a:prstGeom prst="rect">
            <a:avLst/>
          </a:prstGeom>
          <a:solidFill>
            <a:srgbClr val="29221A"/>
          </a:solidFill>
          <a:ln w="19050">
            <a:solidFill>
              <a:srgbClr val="C8A550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023360" y="886968"/>
            <a:ext cx="1042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8A550"/>
                </a:solidFill>
              </a:rPr>
              <a:t>$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023360" y="1207008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MONEY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977640" y="1664208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Income each round = Money track value. Cost to buy cards and partnerships.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248656" y="868680"/>
            <a:ext cx="1042416" cy="713232"/>
          </a:xfrm>
          <a:prstGeom prst="rect">
            <a:avLst/>
          </a:prstGeom>
          <a:solidFill>
            <a:srgbClr val="29221A"/>
          </a:solidFill>
          <a:ln w="19050">
            <a:solidFill>
              <a:srgbClr val="7EB87E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248656" y="886968"/>
            <a:ext cx="1042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7EB87E"/>
                </a:solidFill>
              </a:rPr>
              <a:t>★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248656" y="1207008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202936" y="1664208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Public Relations. Hard cap ±8/+11. Milestones at 6 and 11.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73952" y="868680"/>
            <a:ext cx="1042416" cy="713232"/>
          </a:xfrm>
          <a:prstGeom prst="rect">
            <a:avLst/>
          </a:prstGeom>
          <a:solidFill>
            <a:srgbClr val="29221A"/>
          </a:solidFill>
          <a:ln w="19050">
            <a:solidFill>
              <a:srgbClr val="C8A550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73952" y="886968"/>
            <a:ext cx="1042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8A550"/>
                </a:solidFill>
              </a:rPr>
              <a:t>⚖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473952" y="1207008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endParaRPr lang="en-US" sz="700" dirty="0"/>
          </a:p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INFLUENCE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428232" y="1664208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Placed on active Supreme Court cases. Highest wins; lowest loses.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699248" y="868680"/>
            <a:ext cx="1042416" cy="713232"/>
          </a:xfrm>
          <a:prstGeom prst="rect">
            <a:avLst/>
          </a:prstGeom>
          <a:solidFill>
            <a:srgbClr val="29221A"/>
          </a:solidFill>
          <a:ln w="19050">
            <a:solidFill>
              <a:srgbClr val="7EB87E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699248" y="886968"/>
            <a:ext cx="1042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7EB87E"/>
                </a:solidFill>
              </a:rPr>
              <a:t>✊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699248" y="1207008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PROTEST</a:t>
            </a:r>
            <a:endParaRPr lang="en-US" sz="700" dirty="0"/>
          </a:p>
          <a:p>
            <a:pPr algn="ctr" indent="0" marL="0">
              <a:buNone/>
            </a:pPr>
            <a:r>
              <a:rPr lang="en-US" sz="700" spc="50" kern="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653528" y="1664208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Generated by Activists. Lowest at Protest event takes the penalty.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2578608"/>
            <a:ext cx="8229600" cy="0"/>
          </a:xfrm>
          <a:prstGeom prst="line">
            <a:avLst/>
          </a:prstGeom>
          <a:noFill/>
          <a:ln w="9525">
            <a:solidFill>
              <a:srgbClr val="56483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697480"/>
            <a:ext cx="2651760" cy="224028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2697480"/>
            <a:ext cx="2651760" cy="310896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" y="2779776"/>
            <a:ext cx="73152" cy="73152"/>
          </a:xfrm>
          <a:prstGeom prst="ellipse">
            <a:avLst/>
          </a:prstGeom>
          <a:solidFill>
            <a:srgbClr val="5DB8D4"/>
          </a:solidFill>
          <a:ln/>
        </p:spPr>
      </p:sp>
      <p:sp>
        <p:nvSpPr>
          <p:cNvPr id="39" name="Text 37"/>
          <p:cNvSpPr/>
          <p:nvPr/>
        </p:nvSpPr>
        <p:spPr>
          <a:xfrm>
            <a:off x="603504" y="27340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DB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WATER RIGHTS TRACK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75488" y="30632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 Range: 3 – 22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75488" y="32735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Milestones: 6→★1  11→★2  17→★3  22→★5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38912" y="3502152"/>
            <a:ext cx="2487168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547872"/>
            <a:ext cx="24871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Increases via card effects and SC wins. Decreases if you end a round with leftover Water Claims or water on an incomplete project (from Round 3+). Also decreases on SC loss.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200400" y="2697480"/>
            <a:ext cx="2651760" cy="224028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200400" y="2697480"/>
            <a:ext cx="2651760" cy="310896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10128" y="2779776"/>
            <a:ext cx="73152" cy="73152"/>
          </a:xfrm>
          <a:prstGeom prst="ellipse">
            <a:avLst/>
          </a:prstGeom>
          <a:solidFill>
            <a:srgbClr val="C8A550"/>
          </a:solidFill>
          <a:ln/>
        </p:spPr>
      </p:sp>
      <p:sp>
        <p:nvSpPr>
          <p:cNvPr id="47" name="Text 45"/>
          <p:cNvSpPr/>
          <p:nvPr/>
        </p:nvSpPr>
        <p:spPr>
          <a:xfrm>
            <a:off x="3438144" y="27340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MONEY TRACK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310128" y="30632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Range: 0 – 19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3310128" y="32735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Milestones: 19 → ★5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273552" y="3502152"/>
            <a:ext cx="2487168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91840" y="3547872"/>
            <a:ext cx="24871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Income each round equals your current track position. Money is spent on lawyers (cost + $4 surcharge unless you've crossed a PR threshold), partnerships, and card abilities.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035040" y="2697480"/>
            <a:ext cx="2651760" cy="224028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035040" y="2697480"/>
            <a:ext cx="2651760" cy="310896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144768" y="2779776"/>
            <a:ext cx="73152" cy="73152"/>
          </a:xfrm>
          <a:prstGeom prst="ellipse">
            <a:avLst/>
          </a:prstGeom>
          <a:solidFill>
            <a:srgbClr val="7EB87E"/>
          </a:solidFill>
          <a:ln/>
        </p:spPr>
      </p:sp>
      <p:sp>
        <p:nvSpPr>
          <p:cNvPr id="55" name="Text 53"/>
          <p:cNvSpPr/>
          <p:nvPr/>
        </p:nvSpPr>
        <p:spPr>
          <a:xfrm>
            <a:off x="6272784" y="27340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TRACK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144768" y="30632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9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  Range: −8 to +11  (hard cap)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144768" y="32735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Milestones: 6→★2  11→★5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108192" y="3502152"/>
            <a:ext cx="2487168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26480" y="3547872"/>
            <a:ext cx="24871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A5E4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Hard-capped. Two free-lawyer thresholds at PR −7 and +8: when your PR marker sits at or beyond those spaces, the $4 lawyer surcharge is waived. Below −7 you risk card discards.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0118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CARDS &amp; MARKETS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5648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868680"/>
            <a:ext cx="4206240" cy="126187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868680"/>
            <a:ext cx="4206240" cy="320040"/>
          </a:xfrm>
          <a:prstGeom prst="rect">
            <a:avLst/>
          </a:prstGeom>
          <a:solidFill>
            <a:srgbClr val="C8A550">
              <a:alpha val="18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⚖  LAWYER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1216152"/>
            <a:ext cx="4023360" cy="8778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4 face-up in the Lawyer Market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Cost: printed cost + $4 surcharge (waived at PR −7 or +8)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 action: Negotiate phase. C action: Consume phase.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Exhaust symbol = must exhaust the card to use it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2221992"/>
            <a:ext cx="4206240" cy="126187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221992"/>
            <a:ext cx="4206240" cy="320040"/>
          </a:xfrm>
          <a:prstGeom prst="rect">
            <a:avLst/>
          </a:prstGeom>
          <a:solidFill>
            <a:srgbClr val="7EB87E">
              <a:alpha val="18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267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✊  ACTIVIST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2569464"/>
            <a:ext cx="4023360" cy="8778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4 face-up in the Activist Market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Require Business Partnership to acquire ($3)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Generate Protest Influence during Protest events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 and C actions available each round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3575304"/>
            <a:ext cx="4206240" cy="126187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575304"/>
            <a:ext cx="4206240" cy="320040"/>
          </a:xfrm>
          <a:prstGeom prst="rect">
            <a:avLst/>
          </a:prstGeom>
          <a:solidFill>
            <a:srgbClr val="6B9EC8">
              <a:alpha val="18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36210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9E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🧑  CITIZEN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200" y="3922776"/>
            <a:ext cx="4023360" cy="8778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Earned by completing Citizen Projects (Farm, Housing, Firefighting)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Remain in tableau; grant passive abilities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Discard if their PR requirement is no longer met at End Step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00600" y="868680"/>
            <a:ext cx="4206240" cy="126187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868680"/>
            <a:ext cx="4206240" cy="320040"/>
          </a:xfrm>
          <a:prstGeom prst="rect">
            <a:avLst/>
          </a:prstGeom>
          <a:solidFill>
            <a:srgbClr val="A07EC8">
              <a:alpha val="18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0328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07E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📋  STRATEGY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92040" y="1216152"/>
            <a:ext cx="4023360" cy="8778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3 cards dealt at game start; drawn via card effects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 ability in Negotiate; C ability in Consume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Single-use — discarded after play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Deck reshuffles when exhausted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0" y="2221992"/>
            <a:ext cx="4206240" cy="126187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00600" y="2221992"/>
            <a:ext cx="4206240" cy="320040"/>
          </a:xfrm>
          <a:prstGeom prst="rect">
            <a:avLst/>
          </a:prstGeom>
          <a:solidFill>
            <a:srgbClr val="C86060">
              <a:alpha val="18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10328" y="2267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86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 EVENT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92040" y="2569464"/>
            <a:ext cx="4023360" cy="8778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Active rounds 2–7 only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Protest A/B  •  Severe Drought  •  Large Snow Melt  •  Supreme Court Session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Protest: lowest influence player takes penalty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Drought/Snow Melt: modifier applied to river water supply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0118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 PROJECTS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5648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0467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During the Consume phase, spend 1 Water Claim token to place 1 water on any project space. When all spaces are filled, the project pays out at the End Step.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5760" y="1335024"/>
            <a:ext cx="4114800" cy="768096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335024"/>
            <a:ext cx="50292" cy="768096"/>
          </a:xfrm>
          <a:prstGeom prst="rect">
            <a:avLst/>
          </a:prstGeom>
          <a:solidFill>
            <a:srgbClr val="3D8FA8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35024"/>
            <a:ext cx="411480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371600"/>
            <a:ext cx="3950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3D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WATERING A PROJECT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75488" y="1609344"/>
            <a:ext cx="3950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On your turn in the Consume phase: spend 1 ◈ Water Claim token. Take 1 water cube from the river supply and place it on a project space of your choice. Multiple cubes can be placed across different turns.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0" y="1335024"/>
            <a:ext cx="4023360" cy="768096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335024"/>
            <a:ext cx="50292" cy="768096"/>
          </a:xfrm>
          <a:prstGeom prst="rect">
            <a:avLst/>
          </a:prstGeom>
          <a:solidFill>
            <a:srgbClr val="7A3A18"/>
          </a:solidFill>
          <a:ln w="12700">
            <a:solidFill>
              <a:srgbClr val="7A3A1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1335024"/>
            <a:ext cx="402336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371600"/>
            <a:ext cx="3858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A3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INCOMPLETE PROJECT PENALTY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64608" y="1609344"/>
            <a:ext cx="3858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End Step (from Round 3): leftover Water Claim tokens OR water on an incomplete project → lose 1 Water Rights. Partial water carries over to the next round.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2267712"/>
            <a:ext cx="265176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267712"/>
            <a:ext cx="2651760" cy="274320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78608" y="2267712"/>
            <a:ext cx="438912" cy="274320"/>
          </a:xfrm>
          <a:prstGeom prst="rect">
            <a:avLst/>
          </a:prstGeom>
          <a:solidFill>
            <a:srgbClr val="7EB87E">
              <a:alpha val="22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78608" y="226771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Citizen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457200" y="23042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ECDE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🌾 FARM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5488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2376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9264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16152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63040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709928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11680" y="26060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spaces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38912" y="2843784"/>
            <a:ext cx="2505456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288950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REWARD: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60704" y="2889504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EB87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+4 ★ PR  +  Farmer Citizen card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0" y="2267712"/>
            <a:ext cx="265176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0" y="2267712"/>
            <a:ext cx="2651760" cy="274320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13248" y="2267712"/>
            <a:ext cx="438912" cy="274320"/>
          </a:xfrm>
          <a:prstGeom prst="rect">
            <a:avLst/>
          </a:prstGeom>
          <a:solidFill>
            <a:srgbClr val="7EB87E">
              <a:alpha val="22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13248" y="226771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Citizen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291840" y="23042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ECDE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🏘 HOUSING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310128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57016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03904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50792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52544" y="26060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spaces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73552" y="2843784"/>
            <a:ext cx="2505456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10128" y="288950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REWARD: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895344" y="2889504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EB87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+2 ★ PR  +  Service Worker card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035040" y="2267712"/>
            <a:ext cx="265176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035040" y="2267712"/>
            <a:ext cx="2651760" cy="274320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47888" y="2267712"/>
            <a:ext cx="438912" cy="274320"/>
          </a:xfrm>
          <a:prstGeom prst="rect">
            <a:avLst/>
          </a:prstGeom>
          <a:solidFill>
            <a:srgbClr val="7EB87E">
              <a:alpha val="22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47888" y="226771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Citizen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6126480" y="230428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ECDE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🔥 FIREFIGHTING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44768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91656" y="2596896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93408" y="26060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spaces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108192" y="2843784"/>
            <a:ext cx="2505456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44768" y="288950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REWARD: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729984" y="2889504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EB87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+1 ★ PR  +  Firefighter card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65760" y="3511296"/>
            <a:ext cx="265176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365760" y="3511296"/>
            <a:ext cx="2651760" cy="274320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578608" y="3511296"/>
            <a:ext cx="438912" cy="274320"/>
          </a:xfrm>
          <a:prstGeom prst="rect">
            <a:avLst/>
          </a:prstGeom>
          <a:solidFill>
            <a:srgbClr val="C8A550">
              <a:alpha val="22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78608" y="3511296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Income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457200" y="35478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ECDE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🏭 FACTORY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75488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22376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9264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216152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463040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709928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011680" y="384962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spaces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38912" y="4087368"/>
            <a:ext cx="2505456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5488" y="413308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REWARD: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060704" y="4133088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+$5  −3 ★ PR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200400" y="3511296"/>
            <a:ext cx="265176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3200400" y="3511296"/>
            <a:ext cx="2651760" cy="274320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413248" y="3511296"/>
            <a:ext cx="438912" cy="274320"/>
          </a:xfrm>
          <a:prstGeom prst="rect">
            <a:avLst/>
          </a:prstGeom>
          <a:solidFill>
            <a:srgbClr val="C8A550">
              <a:alpha val="22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13248" y="3511296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Income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3291840" y="35478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ECDE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🍇 VINEYARD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3310128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557016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803904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050792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52544" y="384962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spaces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3273552" y="4087368"/>
            <a:ext cx="2505456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310128" y="413308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REWARD: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3895344" y="4133088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+$3  −2 ★ PR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035040" y="3511296"/>
            <a:ext cx="265176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6035040" y="3511296"/>
            <a:ext cx="2651760" cy="274320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247888" y="3511296"/>
            <a:ext cx="438912" cy="274320"/>
          </a:xfrm>
          <a:prstGeom prst="rect">
            <a:avLst/>
          </a:prstGeom>
          <a:solidFill>
            <a:srgbClr val="C8A550">
              <a:alpha val="22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47888" y="3511296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Income</a:t>
            </a:r>
            <a:endParaRPr lang="en-US" sz="650" dirty="0"/>
          </a:p>
        </p:txBody>
      </p:sp>
      <p:sp>
        <p:nvSpPr>
          <p:cNvPr id="89" name="Text 87"/>
          <p:cNvSpPr/>
          <p:nvPr/>
        </p:nvSpPr>
        <p:spPr>
          <a:xfrm>
            <a:off x="6126480" y="35478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ECDE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⛳ RECREATION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6144768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391656" y="3840480"/>
            <a:ext cx="182880" cy="182880"/>
          </a:xfrm>
          <a:prstGeom prst="ellipse">
            <a:avLst/>
          </a:prstGeom>
          <a:solidFill>
            <a:srgbClr val="342C20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93408" y="384962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spaces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6108192" y="4087368"/>
            <a:ext cx="2505456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144768" y="413308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3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REWARD: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6729984" y="4133088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+$1  −1 ★ PR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0118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5648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One Event card is revealed at the start of the Consume phase, rounds 2–7. The deck contains 9 cards: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5760" y="1170432"/>
            <a:ext cx="420624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170432"/>
            <a:ext cx="4206240" cy="292608"/>
          </a:xfrm>
          <a:prstGeom prst="rect">
            <a:avLst/>
          </a:prstGeom>
          <a:solidFill>
            <a:srgbClr val="C86060">
              <a:alpha val="18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20700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86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PROTEST A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931920" y="121615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" y="1499616"/>
            <a:ext cx="3968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All players may use one Activist C ability to generate Protest Influence.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The player(s) with the LOWEST influence lose −3 PR.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Ties split the penalty — all tied players are affected.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414016"/>
            <a:ext cx="420624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414016"/>
            <a:ext cx="4206240" cy="292608"/>
          </a:xfrm>
          <a:prstGeom prst="rect">
            <a:avLst/>
          </a:prstGeom>
          <a:solidFill>
            <a:srgbClr val="C86060">
              <a:alpha val="18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245059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86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PROTEST B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931920" y="245973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5488" y="2743200"/>
            <a:ext cx="3968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Same as Protest A, except the penalty is lower: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Lowest player(s) lose −1 PR and −1 Water Rights.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Activating Activists is optional; you may Pass immediately.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657600"/>
            <a:ext cx="420624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657600"/>
            <a:ext cx="4206240" cy="292608"/>
          </a:xfrm>
          <a:prstGeom prst="rect">
            <a:avLst/>
          </a:prstGeom>
          <a:solidFill>
            <a:srgbClr val="7A3A18">
              <a:alpha val="18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369417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A3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🌵 SEVERE DROUGHT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931920" y="3703320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" y="3986784"/>
            <a:ext cx="3968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Roll 1 d6 during water determination in the Consume phase.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Subtract that result from the total river water supply.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Minimum supply is 0 — the result cannot go negative.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1170432"/>
            <a:ext cx="420624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00600" y="1170432"/>
            <a:ext cx="4206240" cy="292608"/>
          </a:xfrm>
          <a:prstGeom prst="rect">
            <a:avLst/>
          </a:prstGeom>
          <a:solidFill>
            <a:srgbClr val="5DB8D4">
              <a:alpha val="18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10328" y="120700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DB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❄ LARGE SNOW MELT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366760" y="121615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10328" y="1499616"/>
            <a:ext cx="3968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Roll 1 d6 during water determination in the Consume phase.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Add that result to the total river water supply.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 bonus round for all players — water projects are easier to fill.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2414016"/>
            <a:ext cx="4206240" cy="1143000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00600" y="2414016"/>
            <a:ext cx="4206240" cy="292608"/>
          </a:xfrm>
          <a:prstGeom prst="rect">
            <a:avLst/>
          </a:prstGeom>
          <a:solidFill>
            <a:srgbClr val="C8A550">
              <a:alpha val="18000"/>
            </a:srgbClr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10328" y="245059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⚖ SUPREME COURT SESSION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366760" y="245973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10328" y="2743200"/>
            <a:ext cx="3968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The SC case at the front of the docket becomes active.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Only the named plaintiff and defendant factions may use Lawyers to place SC Influence.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Highest influence wins the case (+1◈ +3VP +1★). Lowest loses (−1◈ −$2 −1★). Ties: no rewards or penalties.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0118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400" kern="0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LAWYERS &amp; PARTNERSHIPS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5648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046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LAWYER CARD REFERENCE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09728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819656" y="1097280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203704" y="1097280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REQ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752344" y="109728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ACTION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61688" y="10972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ACTION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5760" y="1316736"/>
            <a:ext cx="5394960" cy="0"/>
          </a:xfrm>
          <a:prstGeom prst="line">
            <a:avLst/>
          </a:prstGeom>
          <a:noFill/>
          <a:ln w="9525">
            <a:solidFill>
              <a:srgbClr val="5648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9184" y="1353312"/>
            <a:ext cx="5440680" cy="329184"/>
          </a:xfrm>
          <a:prstGeom prst="rect">
            <a:avLst/>
          </a:prstGeom>
          <a:solidFill>
            <a:srgbClr val="161310"/>
          </a:solidFill>
          <a:ln w="3175">
            <a:solidFill>
              <a:srgbClr val="3D33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3716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SNEAKY PETE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819656" y="13716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$3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203704" y="13716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82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—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752344" y="137160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612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N: Pay 1◈ → gain $3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61688" y="1371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D8FA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C: Draw 1 Strategy card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9184" y="1691640"/>
            <a:ext cx="5440680" cy="329184"/>
          </a:xfrm>
          <a:prstGeom prst="rect">
            <a:avLst/>
          </a:prstGeom>
          <a:solidFill>
            <a:srgbClr val="1F1A12"/>
          </a:solidFill>
          <a:ln w="3175">
            <a:solidFill>
              <a:srgbClr val="3D33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709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ANTI-ENVIRONMENTALIST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819656" y="1709928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$5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203704" y="170992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82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PR ≤ 1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52344" y="170992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612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N: −1★ → gain 1 SC influence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61688" y="1709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D8FA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C: −1★ → 2 SC inf.  OR  $2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9184" y="2029968"/>
            <a:ext cx="5440680" cy="329184"/>
          </a:xfrm>
          <a:prstGeom prst="rect">
            <a:avLst/>
          </a:prstGeom>
          <a:solidFill>
            <a:srgbClr val="161310"/>
          </a:solidFill>
          <a:ln w="3175">
            <a:solidFill>
              <a:srgbClr val="3D33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0482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 BONO ATTORNEY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819656" y="204825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$0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203704" y="204825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82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PR ≥ 6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752344" y="204825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612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N: +1 Water Rights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361688" y="20482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D8FA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C: +1 SC inf.  OR  +1 VP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9184" y="2368296"/>
            <a:ext cx="5440680" cy="329184"/>
          </a:xfrm>
          <a:prstGeom prst="rect">
            <a:avLst/>
          </a:prstGeom>
          <a:solidFill>
            <a:srgbClr val="1F1A12"/>
          </a:solidFill>
          <a:ln w="3175">
            <a:solidFill>
              <a:srgbClr val="3D33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23865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IT'S A JOB LAWYER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19656" y="238658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$2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203704" y="2386584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82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—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752344" y="2386584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612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N: Pay $2 → +1 Water Rights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361688" y="23865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D8FA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C: +1 SC influence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29184" y="2706624"/>
            <a:ext cx="5440680" cy="329184"/>
          </a:xfrm>
          <a:prstGeom prst="rect">
            <a:avLst/>
          </a:prstGeom>
          <a:solidFill>
            <a:srgbClr val="161310"/>
          </a:solidFill>
          <a:ln w="3175">
            <a:solidFill>
              <a:srgbClr val="3D332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27249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PLAYER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1819656" y="27249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$3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203704" y="27249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82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—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2752344" y="272491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612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N: Pay $1 → +1 water cube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361688" y="2724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D8FA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C: Next lawyer −$3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29184" y="3044952"/>
            <a:ext cx="5440680" cy="329184"/>
          </a:xfrm>
          <a:prstGeom prst="rect">
            <a:avLst/>
          </a:prstGeom>
          <a:solidFill>
            <a:srgbClr val="1F1A12"/>
          </a:solidFill>
          <a:ln w="3175">
            <a:solidFill>
              <a:srgbClr val="3D332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30632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WORKAHOLIC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819656" y="30632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$1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2203704" y="306324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82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—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752344" y="30632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612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N: —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361688" y="3063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D8FA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C: Next +1 water → +2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9184" y="3383280"/>
            <a:ext cx="5440680" cy="329184"/>
          </a:xfrm>
          <a:prstGeom prst="rect">
            <a:avLst/>
          </a:prstGeom>
          <a:solidFill>
            <a:srgbClr val="161310"/>
          </a:solidFill>
          <a:ln w="3175">
            <a:solidFill>
              <a:srgbClr val="3D332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34015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RIDER OF COAT-TAILS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819656" y="3401568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$1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203704" y="340156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82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—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2752344" y="34015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612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N: Copy costlier lawyer's N bonus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361688" y="34015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D8FA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C: Claim won SC reward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29184" y="3721608"/>
            <a:ext cx="5440680" cy="329184"/>
          </a:xfrm>
          <a:prstGeom prst="rect">
            <a:avLst/>
          </a:prstGeom>
          <a:solidFill>
            <a:srgbClr val="1F1A12"/>
          </a:solidFill>
          <a:ln w="3175">
            <a:solidFill>
              <a:srgbClr val="3D332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37398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IT FOR GLORY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1819656" y="373989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A55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$2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203704" y="373989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82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PR ≤ 7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2752344" y="37398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612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Passive: +1 VP each SC win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361688" y="37398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D8FA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C: +1 SC influence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65760" y="4078224"/>
            <a:ext cx="5394960" cy="402336"/>
          </a:xfrm>
          <a:prstGeom prst="rect">
            <a:avLst/>
          </a:prstGeom>
          <a:solidFill>
            <a:srgbClr val="29221A"/>
          </a:solidFill>
          <a:ln w="9525">
            <a:solidFill>
              <a:srgbClr val="8A6E3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2920" y="411480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⚖  Acquiring lawyers: pay printed cost + $4 surcharge. Surcharge waived if your PR is at or beyond −7 or +8 threshold markers.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5989320" y="8046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PARTNERSHIPS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989320" y="1115568"/>
            <a:ext cx="2926080" cy="1042416"/>
          </a:xfrm>
          <a:prstGeom prst="rect">
            <a:avLst/>
          </a:prstGeom>
          <a:solidFill>
            <a:srgbClr val="1F1A12"/>
          </a:solidFill>
          <a:ln w="12700">
            <a:solidFill>
              <a:srgbClr val="C8A550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6108192" y="1188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⚖  LAW FIRM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108192" y="14630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cost: $4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6108192" y="1664208"/>
            <a:ext cx="2670048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08192" y="1709928"/>
            <a:ext cx="2706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Pay $4 to acquire one Lawyer from the market without using the standard action.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989320" y="2267712"/>
            <a:ext cx="2926080" cy="1042416"/>
          </a:xfrm>
          <a:prstGeom prst="rect">
            <a:avLst/>
          </a:prstGeom>
          <a:solidFill>
            <a:srgbClr val="1F1A12"/>
          </a:solidFill>
          <a:ln w="12700">
            <a:solidFill>
              <a:srgbClr val="7EB87E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6108192" y="23408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🤝  BUSINESS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108192" y="261518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cost: $3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108192" y="2816352"/>
            <a:ext cx="2670048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08192" y="2862072"/>
            <a:ext cx="2706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Pay $3 to acquire one Activist from the market. Required to acquire Activists at all.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89320" y="3419856"/>
            <a:ext cx="2926080" cy="1042416"/>
          </a:xfrm>
          <a:prstGeom prst="rect">
            <a:avLst/>
          </a:prstGeom>
          <a:solidFill>
            <a:srgbClr val="1F1A12"/>
          </a:solidFill>
          <a:ln w="12700">
            <a:solidFill>
              <a:srgbClr val="7EB87E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6108192" y="34930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EB8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📈  INVESTMENT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6108192" y="376732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cost: $2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6108192" y="3968496"/>
            <a:ext cx="2670048" cy="0"/>
          </a:xfrm>
          <a:prstGeom prst="line">
            <a:avLst/>
          </a:prstGeom>
          <a:noFill/>
          <a:ln w="6350">
            <a:solidFill>
              <a:srgbClr val="3D332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108192" y="4014216"/>
            <a:ext cx="2706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Pay $2 to immediately gain +1 PR.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0118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spc="300" kern="0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SUPREME COURT &amp; WATER BANK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5648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841248"/>
            <a:ext cx="91440" cy="91440"/>
          </a:xfrm>
          <a:prstGeom prst="ellipse">
            <a:avLst/>
          </a:prstGeom>
          <a:solidFill>
            <a:srgbClr val="C8A550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" y="804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SUPREME COURT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115568"/>
            <a:ext cx="4114800" cy="98755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115568"/>
            <a:ext cx="50292" cy="987552"/>
          </a:xfrm>
          <a:prstGeom prst="rect">
            <a:avLst/>
          </a:prstGeom>
          <a:solidFill>
            <a:srgbClr val="C8A550"/>
          </a:solidFill>
          <a:ln w="12700">
            <a:solidFill>
              <a:srgbClr val="C8A5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115568"/>
            <a:ext cx="411480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" y="1152144"/>
            <a:ext cx="3950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DOCKET SIZE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75488" y="1389888"/>
            <a:ext cx="39502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Cases in the docket depend on player count: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2P→1   3P→3   4P→6   5P→10   6P→15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Only cases matching active factions appear.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2176272"/>
            <a:ext cx="4114800" cy="1024128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176272"/>
            <a:ext cx="50292" cy="1024128"/>
          </a:xfrm>
          <a:prstGeom prst="rect">
            <a:avLst/>
          </a:prstGeom>
          <a:solidFill>
            <a:srgbClr val="C8A550"/>
          </a:solidFill>
          <a:ln w="12700">
            <a:solidFill>
              <a:srgbClr val="C8A5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176272"/>
            <a:ext cx="411480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212848"/>
            <a:ext cx="3950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A CASE (SC Session Event)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5488" y="2450592"/>
            <a:ext cx="3950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Only the named Plaintiff and Defendant factions may use Lawyers to place SC Influence. Other players cannot participate. The highest influence wins; the lowest loses. Equal influence = tie, no effect.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4114800" cy="749808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273552"/>
            <a:ext cx="50292" cy="749808"/>
          </a:xfrm>
          <a:prstGeom prst="rect">
            <a:avLst/>
          </a:prstGeom>
          <a:solidFill>
            <a:srgbClr val="C8A550"/>
          </a:solidFill>
          <a:ln w="12700">
            <a:solidFill>
              <a:srgbClr val="C8A5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273552"/>
            <a:ext cx="411480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3310128"/>
            <a:ext cx="3950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WINNING &amp; LOSING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75488" y="3547872"/>
            <a:ext cx="3950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Win: +1 Water Rights  +3 VP  +1 PR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Lose: −1 Water Rights  −$2  −1 PR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Cases cycle to the back of the docket after resolution.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4114800" cy="658368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4096512"/>
            <a:ext cx="50292" cy="658368"/>
          </a:xfrm>
          <a:prstGeom prst="rect">
            <a:avLst/>
          </a:prstGeom>
          <a:solidFill>
            <a:srgbClr val="7A3A18"/>
          </a:solidFill>
          <a:ln w="12700">
            <a:solidFill>
              <a:srgbClr val="7A3A1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4096512"/>
            <a:ext cx="411480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" y="4133088"/>
            <a:ext cx="3950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A3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RIDER OF COAT-TAILS (C ACTION)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75488" y="4370832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Claim a won SC case's winner reward without having been a party to it — only cases resolved this round.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46320" y="841248"/>
            <a:ext cx="91440" cy="91440"/>
          </a:xfrm>
          <a:prstGeom prst="ellipse">
            <a:avLst/>
          </a:prstGeom>
          <a:solidFill>
            <a:srgbClr val="5DB8D4"/>
          </a:solidFill>
          <a:ln/>
        </p:spPr>
      </p:sp>
      <p:sp>
        <p:nvSpPr>
          <p:cNvPr id="30" name="Text 28"/>
          <p:cNvSpPr/>
          <p:nvPr/>
        </p:nvSpPr>
        <p:spPr>
          <a:xfrm>
            <a:off x="4992624" y="804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DB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WATER BANK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115568"/>
            <a:ext cx="4023360" cy="80467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1115568"/>
            <a:ext cx="50292" cy="804672"/>
          </a:xfrm>
          <a:prstGeom prst="rect">
            <a:avLst/>
          </a:prstGeom>
          <a:solidFill>
            <a:srgbClr val="5DB8D4"/>
          </a:solidFill>
          <a:ln w="12700">
            <a:solidFill>
              <a:srgbClr val="5DB8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1115568"/>
            <a:ext cx="402336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64608" y="1152144"/>
            <a:ext cx="3858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DB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UNLOCKING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864608" y="1389888"/>
            <a:ext cx="3858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Pay $8 once to permanently unlock your Water Bank for the rest of the game. 9 cube capacity.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54880" y="1993392"/>
            <a:ext cx="4023360" cy="932688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54880" y="1993392"/>
            <a:ext cx="50292" cy="932688"/>
          </a:xfrm>
          <a:prstGeom prst="rect">
            <a:avLst/>
          </a:prstGeom>
          <a:solidFill>
            <a:srgbClr val="3D8FA8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0" y="1993392"/>
            <a:ext cx="402336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2029968"/>
            <a:ext cx="3858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3D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DEPOSITS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64608" y="2267712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ANY player (not just the owner) may pay $1 per cube to the bank owner to store water cubes. Stored cubes are marked in the owner's colour.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54880" y="2999232"/>
            <a:ext cx="4023360" cy="749808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54880" y="2999232"/>
            <a:ext cx="50292" cy="749808"/>
          </a:xfrm>
          <a:prstGeom prst="rect">
            <a:avLst/>
          </a:prstGeom>
          <a:solidFill>
            <a:srgbClr val="5DB8D4"/>
          </a:solidFill>
          <a:ln w="12700">
            <a:solidFill>
              <a:srgbClr val="5DB8D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2999232"/>
            <a:ext cx="402336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64608" y="3035808"/>
            <a:ext cx="3858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DB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WITHDRAWALS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864608" y="3273552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The OWNER may retrieve any number of their stored cubes for free on any future turn, including in later rounds.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754880" y="3822192"/>
            <a:ext cx="4023360" cy="987552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892040" y="387705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DOCKET CYCLING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892040" y="413308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 →  [Front of docket resolves]  →  Moves to back of queue  →  Cycles through all cases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892040" y="43708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Each case eventually comes around again. Plan your lawyer investments accordingly.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B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8FA8">
              <a:alpha val="12000"/>
            </a:srgbClr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51960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306824"/>
            <a:ext cx="9144000" cy="0"/>
          </a:xfrm>
          <a:prstGeom prst="line">
            <a:avLst/>
          </a:prstGeom>
          <a:noFill/>
          <a:ln w="31750">
            <a:solidFill>
              <a:srgbClr val="3D8F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379976"/>
            <a:ext cx="9144000" cy="0"/>
          </a:xfrm>
          <a:prstGeom prst="line">
            <a:avLst/>
          </a:prstGeom>
          <a:noFill/>
          <a:ln w="12700">
            <a:solidFill>
              <a:srgbClr val="3D8F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300" kern="0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SETUP &amp; QUICK REFERENCE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694944"/>
            <a:ext cx="8229600" cy="0"/>
          </a:xfrm>
          <a:prstGeom prst="line">
            <a:avLst/>
          </a:prstGeom>
          <a:noFill/>
          <a:ln w="12700">
            <a:solidFill>
              <a:srgbClr val="5648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74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42416"/>
            <a:ext cx="4206240" cy="1920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342900" indent="-342900">
              <a:lnSpc>
                <a:spcPct val="135000"/>
              </a:lnSpc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Each player selects a faction and sets their three track markers to starting values</a:t>
            </a:r>
            <a:endParaRPr lang="en-US" sz="1000" dirty="0"/>
          </a:p>
          <a:p>
            <a:pPr marL="342900" indent="-342900">
              <a:lnSpc>
                <a:spcPct val="135000"/>
              </a:lnSpc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Deal 3 Strategy cards to each player</a:t>
            </a:r>
            <a:endParaRPr lang="en-US" sz="1000" dirty="0"/>
          </a:p>
          <a:p>
            <a:pPr marL="342900" indent="-342900">
              <a:lnSpc>
                <a:spcPct val="135000"/>
              </a:lnSpc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Place 4 Lawyers and 4 Activists face-up in the shared markets</a:t>
            </a:r>
            <a:endParaRPr lang="en-US" sz="1000" dirty="0"/>
          </a:p>
          <a:p>
            <a:pPr marL="342900" indent="-342900">
              <a:lnSpc>
                <a:spcPct val="135000"/>
              </a:lnSpc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Shuffle and place the Event deck face-down</a:t>
            </a:r>
            <a:endParaRPr lang="en-US" sz="1000" dirty="0"/>
          </a:p>
          <a:p>
            <a:pPr marL="342900" indent="-342900">
              <a:lnSpc>
                <a:spcPct val="135000"/>
              </a:lnSpc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Assemble the SC docket with the appropriate number of cases for your player count</a:t>
            </a:r>
            <a:endParaRPr lang="en-US" sz="1000" dirty="0"/>
          </a:p>
          <a:p>
            <a:pPr marL="342900" indent="-342900">
              <a:lnSpc>
                <a:spcPct val="135000"/>
              </a:lnSpc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Determine the starting first-player marker (first game: youngest player)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30540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461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ACTIONS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3346704"/>
            <a:ext cx="4206240" cy="566928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346704"/>
            <a:ext cx="50292" cy="566928"/>
          </a:xfrm>
          <a:prstGeom prst="rect">
            <a:avLst/>
          </a:prstGeom>
          <a:solidFill>
            <a:srgbClr val="C4612A"/>
          </a:solidFill>
          <a:ln w="12700">
            <a:solidFill>
              <a:srgbClr val="C4612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3346704"/>
            <a:ext cx="420624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3383280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461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NEGOTIATE (N)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5488" y="3621024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Use Lawyer/Activist N ability • Play Strategy N • Buy Partnership • Pass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986784"/>
            <a:ext cx="4206240" cy="566928"/>
          </a:xfrm>
          <a:prstGeom prst="rect">
            <a:avLst/>
          </a:prstGeom>
          <a:solidFill>
            <a:srgbClr val="1F1A12"/>
          </a:solidFill>
          <a:ln w="9525">
            <a:solidFill>
              <a:srgbClr val="3D3326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986784"/>
            <a:ext cx="50292" cy="566928"/>
          </a:xfrm>
          <a:prstGeom prst="rect">
            <a:avLst/>
          </a:prstGeom>
          <a:solidFill>
            <a:srgbClr val="3D8FA8"/>
          </a:solidFill>
          <a:ln w="12700">
            <a:solidFill>
              <a:srgbClr val="3D8F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986784"/>
            <a:ext cx="4206240" cy="237744"/>
          </a:xfrm>
          <a:prstGeom prst="rect">
            <a:avLst/>
          </a:prstGeom>
          <a:solidFill>
            <a:srgbClr val="29221A"/>
          </a:solidFill>
          <a:ln w="12700">
            <a:solidFill>
              <a:srgbClr val="3D33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4023360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3D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 (C)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5488" y="4261104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Use Lawyer/Activist C ability • Play Strategy C • Buy Partnership • Spend ◈ → water a project • Pass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46320" y="74980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NUMBERS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1042416"/>
            <a:ext cx="1828800" cy="530352"/>
          </a:xfrm>
          <a:prstGeom prst="rect">
            <a:avLst/>
          </a:prstGeom>
          <a:solidFill>
            <a:srgbClr val="29221A"/>
          </a:solidFill>
          <a:ln w="12700">
            <a:solidFill>
              <a:srgbClr val="C8A5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097280"/>
            <a:ext cx="18288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846320" y="1334110"/>
            <a:ext cx="1828800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rounds per game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846320" y="1664208"/>
            <a:ext cx="1828800" cy="530352"/>
          </a:xfrm>
          <a:prstGeom prst="rect">
            <a:avLst/>
          </a:prstGeom>
          <a:solidFill>
            <a:srgbClr val="29221A"/>
          </a:solidFill>
          <a:ln w="12700">
            <a:solidFill>
              <a:srgbClr val="C8A5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719072"/>
            <a:ext cx="18288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846320" y="1955902"/>
            <a:ext cx="1828800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lawyer surcharge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846320" y="2286000"/>
            <a:ext cx="1828800" cy="530352"/>
          </a:xfrm>
          <a:prstGeom prst="rect">
            <a:avLst/>
          </a:prstGeom>
          <a:solidFill>
            <a:srgbClr val="29221A"/>
          </a:solidFill>
          <a:ln w="12700">
            <a:solidFill>
              <a:srgbClr val="5DB8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2340864"/>
            <a:ext cx="18288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B8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846320" y="2577694"/>
            <a:ext cx="1828800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water bank unlock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846320" y="2907792"/>
            <a:ext cx="1828800" cy="530352"/>
          </a:xfrm>
          <a:prstGeom prst="rect">
            <a:avLst/>
          </a:prstGeom>
          <a:solidFill>
            <a:srgbClr val="29221A"/>
          </a:solidFill>
          <a:ln w="12700">
            <a:solidFill>
              <a:srgbClr val="5DB8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2962656"/>
            <a:ext cx="18288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B8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846320" y="3199486"/>
            <a:ext cx="1828800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water bank capacity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949440" y="1042416"/>
            <a:ext cx="1828800" cy="530352"/>
          </a:xfrm>
          <a:prstGeom prst="rect">
            <a:avLst/>
          </a:prstGeom>
          <a:solidFill>
            <a:srgbClr val="29221A"/>
          </a:solidFill>
          <a:ln w="12700">
            <a:solidFill>
              <a:srgbClr val="B0907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0" y="1097280"/>
            <a:ext cx="18288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90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949440" y="1334110"/>
            <a:ext cx="1828800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slots (each)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949440" y="1664208"/>
            <a:ext cx="1828800" cy="530352"/>
          </a:xfrm>
          <a:prstGeom prst="rect">
            <a:avLst/>
          </a:prstGeom>
          <a:solidFill>
            <a:srgbClr val="29221A"/>
          </a:solidFill>
          <a:ln w="12700">
            <a:solidFill>
              <a:srgbClr val="A07EC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1719072"/>
            <a:ext cx="18288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07E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6949440" y="1955902"/>
            <a:ext cx="1828800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strategy cards at start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949440" y="2286000"/>
            <a:ext cx="1828800" cy="530352"/>
          </a:xfrm>
          <a:prstGeom prst="rect">
            <a:avLst/>
          </a:prstGeom>
          <a:solidFill>
            <a:srgbClr val="29221A"/>
          </a:solidFill>
          <a:ln w="12700">
            <a:solidFill>
              <a:srgbClr val="C8A5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49440" y="2340864"/>
            <a:ext cx="18288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+3VP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6949440" y="2577694"/>
            <a:ext cx="1828800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 case winner bonus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949440" y="2907792"/>
            <a:ext cx="1828800" cy="530352"/>
          </a:xfrm>
          <a:prstGeom prst="rect">
            <a:avLst/>
          </a:prstGeom>
          <a:solidFill>
            <a:srgbClr val="29221A"/>
          </a:solidFill>
          <a:ln w="12700">
            <a:solidFill>
              <a:srgbClr val="C8606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49440" y="2962656"/>
            <a:ext cx="182880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6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2–7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949440" y="3199486"/>
            <a:ext cx="1828800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 card rounds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846320" y="3364992"/>
            <a:ext cx="4023360" cy="1115568"/>
          </a:xfrm>
          <a:prstGeom prst="rect">
            <a:avLst/>
          </a:prstGeom>
          <a:solidFill>
            <a:srgbClr val="1F1A12"/>
          </a:solidFill>
          <a:ln w="12700">
            <a:solidFill>
              <a:srgbClr val="8A6E30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5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983480" y="343814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C8A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VP SOURCES AT A GLANCE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983480" y="3675888"/>
            <a:ext cx="3749040" cy="0"/>
          </a:xfrm>
          <a:prstGeom prst="line">
            <a:avLst/>
          </a:prstGeom>
          <a:noFill/>
          <a:ln w="6350">
            <a:solidFill>
              <a:srgbClr val="56483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83480" y="3730752"/>
            <a:ext cx="3749040" cy="6949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Track milestones (Water Rights, Money, PR)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SC Court wins (+3 VP each)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Citizens &amp; Activists (VP value printed on card)</a:t>
            </a:r>
            <a:endParaRPr lang="en-US" sz="9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00" dirty="0">
                <a:solidFill>
                  <a:srgbClr val="B09070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In it for Glory passive: +1 VP per SC win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Law of the River — Rulebook</dc:title>
  <dc:subject>PptxGenJS Presentation</dc:subject>
  <dc:creator>ProfessorZoltan</dc:creator>
  <cp:lastModifiedBy>ProfessorZoltan</cp:lastModifiedBy>
  <cp:revision>1</cp:revision>
  <dcterms:created xsi:type="dcterms:W3CDTF">2026-03-14T22:09:35Z</dcterms:created>
  <dcterms:modified xsi:type="dcterms:W3CDTF">2026-03-14T22:09:35Z</dcterms:modified>
</cp:coreProperties>
</file>