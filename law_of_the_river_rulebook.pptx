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3D8FA8">
              <a:alpha val="18000"/>
            </a:srgbClr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6908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2394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19709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5196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0682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7997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74320"/>
            <a:ext cx="201168" cy="201168"/>
          </a:xfrm>
          <a:prstGeom prst="rect">
            <a:avLst/>
          </a:prstGeom>
          <a:solidFill>
            <a:srgbClr val="C8A550">
              <a:alpha val="60000"/>
            </a:srgbClr>
          </a:solidFill>
          <a:ln w="19050">
            <a:solidFill>
              <a:srgbClr val="C8A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274320"/>
            <a:ext cx="201168" cy="201168"/>
          </a:xfrm>
          <a:prstGeom prst="rect">
            <a:avLst/>
          </a:prstGeom>
          <a:solidFill>
            <a:srgbClr val="C8A550">
              <a:alpha val="60000"/>
            </a:srgbClr>
          </a:solidFill>
          <a:ln w="19050">
            <a:solidFill>
              <a:srgbClr val="C8A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4617720"/>
            <a:ext cx="201168" cy="201168"/>
          </a:xfrm>
          <a:prstGeom prst="rect">
            <a:avLst/>
          </a:prstGeom>
          <a:solidFill>
            <a:srgbClr val="C8A550">
              <a:alpha val="60000"/>
            </a:srgbClr>
          </a:solidFill>
          <a:ln w="19050">
            <a:solidFill>
              <a:srgbClr val="C8A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617720"/>
            <a:ext cx="201168" cy="201168"/>
          </a:xfrm>
          <a:prstGeom prst="rect">
            <a:avLst/>
          </a:prstGeom>
          <a:solidFill>
            <a:srgbClr val="C8A550">
              <a:alpha val="60000"/>
            </a:srgbClr>
          </a:solidFill>
          <a:ln w="19050">
            <a:solidFill>
              <a:srgbClr val="C8A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658368"/>
            <a:ext cx="804672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5080">
            <a:solidFill>
              <a:srgbClr val="7A3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OF THE RIVER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C461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COLORADO RIVER WATER RIGHTS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8483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Control the river. Build your claim. Outlast your rivals.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505456"/>
            <a:ext cx="8046720" cy="0"/>
          </a:xfrm>
          <a:prstGeom prst="line">
            <a:avLst/>
          </a:prstGeom>
          <a:noFill/>
          <a:ln w="10160">
            <a:solidFill>
              <a:srgbClr val="8A6E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D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097280" y="3401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2608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D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926080" y="3401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D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754880" y="3401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D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583680" y="3401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 RULEBOOK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2062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CDEC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Law of the River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 is a 2–6 player strategy game of water rights, political influence, and legal combat set along the Colorado River.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Each player represents a State or Native Reservation vying for control of the river. Build projects, hire lawyers, organize activists, and argue your case before the Supreme Court.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840480" cy="2377440"/>
          </a:xfrm>
          <a:prstGeom prst="rect">
            <a:avLst/>
          </a:prstGeom>
          <a:solidFill>
            <a:srgbClr val="1F1A12"/>
          </a:solidFill>
          <a:ln w="12700">
            <a:solidFill>
              <a:srgbClr val="56483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960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FACTIONS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0" y="1216152"/>
            <a:ext cx="3474720" cy="0"/>
          </a:xfrm>
          <a:prstGeom prst="line">
            <a:avLst/>
          </a:prstGeom>
          <a:noFill/>
          <a:ln w="6350">
            <a:solidFill>
              <a:srgbClr val="5648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344168"/>
            <a:ext cx="73152" cy="73152"/>
          </a:xfrm>
          <a:prstGeom prst="ellipse">
            <a:avLst/>
          </a:prstGeom>
          <a:solidFill>
            <a:srgbClr val="C4612A"/>
          </a:solidFill>
          <a:ln/>
        </p:spPr>
      </p:sp>
      <p:sp>
        <p:nvSpPr>
          <p:cNvPr id="12" name="Text 10"/>
          <p:cNvSpPr/>
          <p:nvPr/>
        </p:nvSpPr>
        <p:spPr>
          <a:xfrm>
            <a:off x="5138928" y="1298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1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ARIZONA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◈4  $3  ★2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73152" cy="73152"/>
          </a:xfrm>
          <a:prstGeom prst="ellipse">
            <a:avLst/>
          </a:prstGeom>
          <a:solidFill>
            <a:srgbClr val="3D8FA8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1600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CALIFORNIA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◈5  $3  ★0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1947672"/>
            <a:ext cx="73152" cy="73152"/>
          </a:xfrm>
          <a:prstGeom prst="ellipse">
            <a:avLst/>
          </a:prstGeom>
          <a:solidFill>
            <a:srgbClr val="C8A550"/>
          </a:solidFill>
          <a:ln/>
        </p:spPr>
      </p:sp>
      <p:sp>
        <p:nvSpPr>
          <p:cNvPr id="18" name="Text 16"/>
          <p:cNvSpPr/>
          <p:nvPr/>
        </p:nvSpPr>
        <p:spPr>
          <a:xfrm>
            <a:off x="5138928" y="1901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NEVADA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◈3  $4  ★1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249424"/>
            <a:ext cx="73152" cy="73152"/>
          </a:xfrm>
          <a:prstGeom prst="ellipse">
            <a:avLst/>
          </a:prstGeom>
          <a:solidFill>
            <a:srgbClr val="7EB87E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22037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CHEMEHUEVI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◈3  $2  ★4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2551176"/>
            <a:ext cx="73152" cy="73152"/>
          </a:xfrm>
          <a:prstGeom prst="ellipse">
            <a:avLst/>
          </a:prstGeom>
          <a:solidFill>
            <a:srgbClr val="5DB8D4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2505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 MOHAVE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2505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◈3  $3  ★3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2852928"/>
            <a:ext cx="73152" cy="73152"/>
          </a:xfrm>
          <a:prstGeom prst="ellipse">
            <a:avLst/>
          </a:prstGeom>
          <a:solidFill>
            <a:srgbClr val="7EB87E"/>
          </a:solidFill>
          <a:ln/>
        </p:spPr>
      </p:sp>
      <p:sp>
        <p:nvSpPr>
          <p:cNvPr id="27" name="Text 25"/>
          <p:cNvSpPr/>
          <p:nvPr/>
        </p:nvSpPr>
        <p:spPr>
          <a:xfrm>
            <a:off x="5138928" y="2807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QUECHAN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◈3  $2  ★5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30723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= Water Rights  $ = Money  ★ = PR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2450592"/>
            <a:ext cx="4206240" cy="2304288"/>
          </a:xfrm>
          <a:prstGeom prst="rect">
            <a:avLst/>
          </a:prstGeom>
          <a:solidFill>
            <a:srgbClr val="1F1A12"/>
          </a:solidFill>
          <a:ln w="12700">
            <a:solidFill>
              <a:srgbClr val="8A6E3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450592"/>
            <a:ext cx="4206240" cy="292608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487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WIN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2907792"/>
            <a:ext cx="73152" cy="73152"/>
          </a:xfrm>
          <a:prstGeom prst="ellipse">
            <a:avLst/>
          </a:prstGeom>
          <a:solidFill>
            <a:srgbClr val="C8A550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2852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Milestones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4944" y="3035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Reach ◈6/11/17/22, $19, or ★6/11 to earn VP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3346704"/>
            <a:ext cx="73152" cy="73152"/>
          </a:xfrm>
          <a:prstGeom prst="ellipse">
            <a:avLst/>
          </a:prstGeom>
          <a:solidFill>
            <a:srgbClr val="C4612A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" y="3291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61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 Court Wins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4944" y="3474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Win a Supreme Court case: +1◈ +3VP +1★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3785616"/>
            <a:ext cx="73152" cy="73152"/>
          </a:xfrm>
          <a:prstGeom prst="ellipse">
            <a:avLst/>
          </a:prstGeom>
          <a:solidFill>
            <a:srgbClr val="3D8FA8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3730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4944" y="3913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Fully water your Farm, Housing, Firefighting, Factory, Vineyard, or Recreation projects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4224528"/>
            <a:ext cx="73152" cy="73152"/>
          </a:xfrm>
          <a:prstGeom prst="ellipse">
            <a:avLst/>
          </a:prstGeom>
          <a:solidFill>
            <a:srgbClr val="7EB87E"/>
          </a:solidFill>
          <a:ln/>
        </p:spPr>
      </p:sp>
      <p:sp>
        <p:nvSpPr>
          <p:cNvPr id="43" name="Text 41"/>
          <p:cNvSpPr/>
          <p:nvPr/>
        </p:nvSpPr>
        <p:spPr>
          <a:xfrm>
            <a:off x="694944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VP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4944" y="4352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Citizens and Activists carry VP values counted at game end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383280"/>
            <a:ext cx="3840480" cy="1554480"/>
          </a:xfrm>
          <a:prstGeom prst="rect">
            <a:avLst/>
          </a:prstGeom>
          <a:solidFill>
            <a:srgbClr val="1F1A12"/>
          </a:solidFill>
          <a:ln w="12700">
            <a:solidFill>
              <a:srgbClr val="56483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MILESTONE CHART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29200" y="3703320"/>
            <a:ext cx="3474720" cy="0"/>
          </a:xfrm>
          <a:prstGeom prst="line">
            <a:avLst/>
          </a:prstGeom>
          <a:noFill/>
          <a:ln w="6350">
            <a:solidFill>
              <a:srgbClr val="5648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794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6  →  ★1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0" y="40873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11  →  ★2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43799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17  →  ★3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0" y="4672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22  →  ★5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3794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$ 19  →  ★5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9360" y="40873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6  →  ★2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89520" y="43799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11  →  ★5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Each round follows four phases in order. A game lasts 10 rounds.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C8A550">
              <a:alpha val="22000"/>
            </a:srgbClr>
          </a:solidFill>
          <a:ln w="19050">
            <a:solidFill>
              <a:srgbClr val="C8A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070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" y="1243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SETUP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2011680" cy="30906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64208"/>
            <a:ext cx="50292" cy="3090672"/>
          </a:xfrm>
          <a:prstGeom prst="rect">
            <a:avLst/>
          </a:prstGeom>
          <a:solidFill>
            <a:srgbClr val="C8A550"/>
          </a:solidFill>
          <a:ln w="12700">
            <a:solidFill>
              <a:srgbClr val="C8A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73936"/>
            <a:ext cx="1883664" cy="2944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CDEC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Pass the 1st-player marker clockwise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Each player gains Water Claims = their Water Rights track value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Each player gains Money = their Money track value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1170432"/>
            <a:ext cx="2011680" cy="475488"/>
          </a:xfrm>
          <a:prstGeom prst="rect">
            <a:avLst/>
          </a:prstGeom>
          <a:solidFill>
            <a:srgbClr val="C4612A">
              <a:alpha val="22000"/>
            </a:srgbClr>
          </a:solidFill>
          <a:ln w="19050">
            <a:solidFill>
              <a:srgbClr val="C461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2070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34640" y="1243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461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NEGOTIATE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50592" y="1664208"/>
            <a:ext cx="2011680" cy="30906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1664208"/>
            <a:ext cx="50292" cy="3090672"/>
          </a:xfrm>
          <a:prstGeom prst="rect">
            <a:avLst/>
          </a:prstGeom>
          <a:solidFill>
            <a:srgbClr val="C4612A"/>
          </a:solidFill>
          <a:ln w="12700">
            <a:solidFill>
              <a:srgbClr val="C461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773936"/>
            <a:ext cx="1883664" cy="2944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CDEC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Beginning with the 1st-player marker holder, players take turns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 your turn: use a Lawyer/Activist (N ability), play a Strategy card (N only), buy a Partnership, or Pass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Phase ends when all players Pass consecutively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26864" y="1170432"/>
            <a:ext cx="2011680" cy="475488"/>
          </a:xfrm>
          <a:prstGeom prst="rect">
            <a:avLst/>
          </a:prstGeom>
          <a:solidFill>
            <a:srgbClr val="3D8FA8">
              <a:alpha val="22000"/>
            </a:srgbClr>
          </a:solidFill>
          <a:ln w="19050">
            <a:solidFill>
              <a:srgbClr val="3D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2070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8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10912" y="1243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D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26864" y="1664208"/>
            <a:ext cx="2011680" cy="30906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664208"/>
            <a:ext cx="50292" cy="3090672"/>
          </a:xfrm>
          <a:prstGeom prst="rect">
            <a:avLst/>
          </a:prstGeom>
          <a:solidFill>
            <a:srgbClr val="3D8FA8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773936"/>
            <a:ext cx="1883664" cy="2944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CDEC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Flip an Event card and resolve it (rounds 2–7 only)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Place water = sum of all Water Rights tracks (±event modifier)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Players take turns: use Lawyer/Activist C, play Strategy C, buy Partnership, spend 1◈ → place water on project, or Pass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Phase ends when all players Pass consecutively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03136" y="1170432"/>
            <a:ext cx="2011680" cy="475488"/>
          </a:xfrm>
          <a:prstGeom prst="rect">
            <a:avLst/>
          </a:prstGeom>
          <a:solidFill>
            <a:srgbClr val="7EB87E">
              <a:alpha val="22000"/>
            </a:srgbClr>
          </a:solidFill>
          <a:ln w="19050">
            <a:solidFill>
              <a:srgbClr val="7EB8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2070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B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87184" y="1243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STEP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03136" y="1664208"/>
            <a:ext cx="2011680" cy="30906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03136" y="1664208"/>
            <a:ext cx="50292" cy="3090672"/>
          </a:xfrm>
          <a:prstGeom prst="rect">
            <a:avLst/>
          </a:prstGeom>
          <a:solidFill>
            <a:srgbClr val="7EB87E"/>
          </a:solidFill>
          <a:ln w="12700">
            <a:solidFill>
              <a:srgbClr val="7EB8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1773936"/>
            <a:ext cx="1883664" cy="2944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ECDEC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Grant rewards for fully-watered projects (starting with 1st player)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Round 3+: players with leftover Water Claims OR water on an incomplete project lose 1 Water Rights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Remove all leftover Water Claims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Reset exhausted cards; check discard conditions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50592" y="1408176"/>
            <a:ext cx="256032" cy="0"/>
          </a:xfrm>
          <a:prstGeom prst="line">
            <a:avLst/>
          </a:prstGeom>
          <a:noFill/>
          <a:ln w="19050">
            <a:solidFill>
              <a:srgbClr val="7A62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41448" y="13350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248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26864" y="1408176"/>
            <a:ext cx="256032" cy="0"/>
          </a:xfrm>
          <a:prstGeom prst="line">
            <a:avLst/>
          </a:prstGeom>
          <a:noFill/>
          <a:ln w="19050">
            <a:solidFill>
              <a:srgbClr val="7A62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13350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248"/>
                </a:solidFill>
              </a:rPr>
              <a:t>▶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03136" y="1408176"/>
            <a:ext cx="256032" cy="0"/>
          </a:xfrm>
          <a:prstGeom prst="line">
            <a:avLst/>
          </a:prstGeom>
          <a:noFill/>
          <a:ln w="19050">
            <a:solidFill>
              <a:srgbClr val="7A62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93992" y="13350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248"/>
                </a:solidFill>
              </a:rPr>
              <a:t>▶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29221A"/>
          </a:solidFill>
          <a:ln w="12700">
            <a:solidFill>
              <a:srgbClr val="C86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Events are active rounds 2–7. In rounds 1 and 8–10, the Event step is skipped.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&amp; TRACKS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68680"/>
            <a:ext cx="1042416" cy="822960"/>
          </a:xfrm>
          <a:prstGeom prst="rect">
            <a:avLst/>
          </a:prstGeom>
          <a:solidFill>
            <a:srgbClr val="29221A"/>
          </a:solidFill>
          <a:ln w="19050">
            <a:solidFill>
              <a:srgbClr val="5DB8D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86968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142646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01752" y="16642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Track position 3–22. Income source. VP milestones at 6/11/17/22.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572768" y="868680"/>
            <a:ext cx="1042416" cy="822960"/>
          </a:xfrm>
          <a:prstGeom prst="rect">
            <a:avLst/>
          </a:prstGeom>
          <a:solidFill>
            <a:srgbClr val="29221A"/>
          </a:solidFill>
          <a:ln w="19050">
            <a:solidFill>
              <a:srgbClr val="3D8FA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88696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142646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1527048" y="16642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Tokens granted each round = your Water Rights value. Spent to water projects.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98064" y="868680"/>
            <a:ext cx="1042416" cy="822960"/>
          </a:xfrm>
          <a:prstGeom prst="rect">
            <a:avLst/>
          </a:prstGeom>
          <a:solidFill>
            <a:srgbClr val="29221A"/>
          </a:solidFill>
          <a:ln w="19050">
            <a:solidFill>
              <a:srgbClr val="3D8FA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886968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98064" y="142646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CUBES</a:t>
            </a:r>
            <a:endParaRPr lang="en-US" sz="650" dirty="0"/>
          </a:p>
        </p:txBody>
      </p:sp>
      <p:sp>
        <p:nvSpPr>
          <p:cNvPr id="18" name="Text 13"/>
          <p:cNvSpPr/>
          <p:nvPr/>
        </p:nvSpPr>
        <p:spPr>
          <a:xfrm>
            <a:off x="2752344" y="16642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Physical water. Used for SC influence, Water Bank, and Water Bribe.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023360" y="868680"/>
            <a:ext cx="1042416" cy="822960"/>
          </a:xfrm>
          <a:prstGeom prst="rect">
            <a:avLst/>
          </a:prstGeom>
          <a:solidFill>
            <a:srgbClr val="29221A"/>
          </a:solidFill>
          <a:ln w="19050">
            <a:solidFill>
              <a:srgbClr val="C8A55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886968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23360" y="142646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MONEY</a:t>
            </a:r>
            <a:endParaRPr lang="en-US" sz="650" dirty="0"/>
          </a:p>
        </p:txBody>
      </p:sp>
      <p:sp>
        <p:nvSpPr>
          <p:cNvPr id="22" name="Text 16"/>
          <p:cNvSpPr/>
          <p:nvPr/>
        </p:nvSpPr>
        <p:spPr>
          <a:xfrm>
            <a:off x="3977640" y="16642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Income each round = Money track value. Cost to buy cards and partnerships.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248656" y="868680"/>
            <a:ext cx="1042416" cy="822960"/>
          </a:xfrm>
          <a:prstGeom prst="rect">
            <a:avLst/>
          </a:prstGeom>
          <a:solidFill>
            <a:srgbClr val="29221A"/>
          </a:solidFill>
          <a:ln w="19050">
            <a:solidFill>
              <a:srgbClr val="7EB87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886968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48656" y="142646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650" dirty="0"/>
          </a:p>
        </p:txBody>
      </p:sp>
      <p:sp>
        <p:nvSpPr>
          <p:cNvPr id="26" name="Text 19"/>
          <p:cNvSpPr/>
          <p:nvPr/>
        </p:nvSpPr>
        <p:spPr>
          <a:xfrm>
            <a:off x="5202936" y="16642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Public Relations. Hard cap ±8/+11. Milestones at 6 and 11.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473952" y="868680"/>
            <a:ext cx="1042416" cy="822960"/>
          </a:xfrm>
          <a:prstGeom prst="rect">
            <a:avLst/>
          </a:prstGeom>
          <a:solidFill>
            <a:srgbClr val="29221A"/>
          </a:solidFill>
          <a:ln w="19050">
            <a:solidFill>
              <a:srgbClr val="C8A55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886968"/>
            <a:ext cx="640080" cy="6400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73952" y="142646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endParaRPr lang="en-US" sz="650" dirty="0"/>
          </a:p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</a:t>
            </a:r>
            <a:endParaRPr lang="en-US" sz="650" dirty="0"/>
          </a:p>
        </p:txBody>
      </p:sp>
      <p:sp>
        <p:nvSpPr>
          <p:cNvPr id="30" name="Text 22"/>
          <p:cNvSpPr/>
          <p:nvPr/>
        </p:nvSpPr>
        <p:spPr>
          <a:xfrm>
            <a:off x="6428232" y="16642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Placed on active Supreme Court cases. Highest wins; lowest loses.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7699248" y="868680"/>
            <a:ext cx="1042416" cy="822960"/>
          </a:xfrm>
          <a:prstGeom prst="rect">
            <a:avLst/>
          </a:prstGeom>
          <a:solidFill>
            <a:srgbClr val="29221A"/>
          </a:solidFill>
          <a:ln w="19050">
            <a:solidFill>
              <a:srgbClr val="7EB87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16" y="886968"/>
            <a:ext cx="640080" cy="6400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699248" y="142646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PROTEST</a:t>
            </a:r>
            <a:endParaRPr lang="en-US" sz="650" dirty="0"/>
          </a:p>
          <a:p>
            <a:pPr algn="ctr" indent="0" marL="0">
              <a:buNone/>
            </a:pPr>
            <a:r>
              <a:rPr lang="en-US" sz="650" spc="50" kern="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INFL.</a:t>
            </a:r>
            <a:endParaRPr lang="en-US" sz="650" dirty="0"/>
          </a:p>
        </p:txBody>
      </p:sp>
      <p:sp>
        <p:nvSpPr>
          <p:cNvPr id="34" name="Text 25"/>
          <p:cNvSpPr/>
          <p:nvPr/>
        </p:nvSpPr>
        <p:spPr>
          <a:xfrm>
            <a:off x="7653528" y="16642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Generated by Activists. Lowest at Protest event takes the penalty.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57200" y="2578608"/>
            <a:ext cx="8229600" cy="0"/>
          </a:xfrm>
          <a:prstGeom prst="line">
            <a:avLst/>
          </a:prstGeom>
          <a:noFill/>
          <a:ln w="9525">
            <a:solidFill>
              <a:srgbClr val="564835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365760" y="2697480"/>
            <a:ext cx="2651760" cy="224028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365760" y="2697480"/>
            <a:ext cx="2651760" cy="310896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475488" y="2779776"/>
            <a:ext cx="73152" cy="73152"/>
          </a:xfrm>
          <a:prstGeom prst="ellipse">
            <a:avLst/>
          </a:prstGeom>
          <a:solidFill>
            <a:srgbClr val="5DB8D4"/>
          </a:solidFill>
          <a:ln/>
        </p:spPr>
      </p:sp>
      <p:sp>
        <p:nvSpPr>
          <p:cNvPr id="39" name="Text 30"/>
          <p:cNvSpPr/>
          <p:nvPr/>
        </p:nvSpPr>
        <p:spPr>
          <a:xfrm>
            <a:off x="603504" y="2734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D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 RIGHTS TRACK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475488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Range: 3 – 22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475488" y="32735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Milestones: 6→★1  11→★2  17→★3  22→★5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438912" y="3502152"/>
            <a:ext cx="2487168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457200" y="3547872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Increases via card effects and SC wins. Decreases if you end a round with leftover Water Claims or water on an incomplete project (from Round 3+). Also decreases on SC loss.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3200400" y="2697480"/>
            <a:ext cx="2651760" cy="224028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3200400" y="2697480"/>
            <a:ext cx="2651760" cy="310896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3310128" y="2779776"/>
            <a:ext cx="73152" cy="73152"/>
          </a:xfrm>
          <a:prstGeom prst="ellipse">
            <a:avLst/>
          </a:prstGeom>
          <a:solidFill>
            <a:srgbClr val="C8A550"/>
          </a:solidFill>
          <a:ln/>
        </p:spPr>
      </p:sp>
      <p:sp>
        <p:nvSpPr>
          <p:cNvPr id="47" name="Text 38"/>
          <p:cNvSpPr/>
          <p:nvPr/>
        </p:nvSpPr>
        <p:spPr>
          <a:xfrm>
            <a:off x="3438144" y="2734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MONEY TRACK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3310128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Range: 0 – 19</a:t>
            </a:r>
            <a:endParaRPr lang="en-US" sz="850" dirty="0"/>
          </a:p>
        </p:txBody>
      </p:sp>
      <p:sp>
        <p:nvSpPr>
          <p:cNvPr id="49" name="Text 40"/>
          <p:cNvSpPr/>
          <p:nvPr/>
        </p:nvSpPr>
        <p:spPr>
          <a:xfrm>
            <a:off x="3310128" y="32735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Milestones: 19 → ★5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3273552" y="3502152"/>
            <a:ext cx="2487168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3291840" y="3547872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Income each round equals your current track position. Money is spent on lawyers (cost + $4 surcharge unless you've crossed a PR threshold), partnerships, and card abilities.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6035040" y="2697480"/>
            <a:ext cx="2651760" cy="224028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6035040" y="2697480"/>
            <a:ext cx="2651760" cy="310896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6144768" y="2779776"/>
            <a:ext cx="73152" cy="73152"/>
          </a:xfrm>
          <a:prstGeom prst="ellipse">
            <a:avLst/>
          </a:prstGeom>
          <a:solidFill>
            <a:srgbClr val="7EB87E"/>
          </a:solidFill>
          <a:ln/>
        </p:spPr>
      </p:sp>
      <p:sp>
        <p:nvSpPr>
          <p:cNvPr id="55" name="Text 46"/>
          <p:cNvSpPr/>
          <p:nvPr/>
        </p:nvSpPr>
        <p:spPr>
          <a:xfrm>
            <a:off x="6272784" y="2734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TRACK</a:t>
            </a:r>
            <a:endParaRPr lang="en-US" sz="800" dirty="0"/>
          </a:p>
        </p:txBody>
      </p:sp>
      <p:sp>
        <p:nvSpPr>
          <p:cNvPr id="56" name="Text 47"/>
          <p:cNvSpPr/>
          <p:nvPr/>
        </p:nvSpPr>
        <p:spPr>
          <a:xfrm>
            <a:off x="6144768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 Range: −8 to +11  (hard cap)</a:t>
            </a:r>
            <a:endParaRPr lang="en-US" sz="850" dirty="0"/>
          </a:p>
        </p:txBody>
      </p:sp>
      <p:sp>
        <p:nvSpPr>
          <p:cNvPr id="57" name="Text 48"/>
          <p:cNvSpPr/>
          <p:nvPr/>
        </p:nvSpPr>
        <p:spPr>
          <a:xfrm>
            <a:off x="6144768" y="32735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Milestones: 6→★2  11→★5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6108192" y="3502152"/>
            <a:ext cx="2487168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6126480" y="3547872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E4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Hard-capped. Two free-lawyer thresholds at PR −7 and +8: when your PR marker sits at or beyond those spaces, the $4 lawyer surcharge is waived. Below −7 you risk card discards.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CARDS &amp; MARKETS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4206240" cy="12618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4206240" cy="320040"/>
          </a:xfrm>
          <a:prstGeom prst="rect">
            <a:avLst/>
          </a:prstGeom>
          <a:solidFill>
            <a:srgbClr val="C8A550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8869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LAWYER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1216152"/>
            <a:ext cx="402336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4 face-up in the Lawyer Market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Cost: printed cost + $4 surcharge (waived at PR −7 or +8)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 action: Negotiate phase. C action: Consume phase.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Exhaust symbol = must exhaust the card to use it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2221992"/>
            <a:ext cx="4206240" cy="12618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221992"/>
            <a:ext cx="4206240" cy="320040"/>
          </a:xfrm>
          <a:prstGeom prst="rect">
            <a:avLst/>
          </a:prstGeom>
          <a:solidFill>
            <a:srgbClr val="7EB87E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240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ACTIVIST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57200" y="2569464"/>
            <a:ext cx="402336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4 face-up in the Activist Market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Require Business Partnership to acquire ($3)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Generate Protest Influence during Protest events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 and C actions available each round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3575304"/>
            <a:ext cx="4206240" cy="12618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575304"/>
            <a:ext cx="4206240" cy="320040"/>
          </a:xfrm>
          <a:prstGeom prst="rect">
            <a:avLst/>
          </a:prstGeom>
          <a:solidFill>
            <a:srgbClr val="6B9EC8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5935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8096" y="3621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9E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3922776"/>
            <a:ext cx="402336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Earned by completing Citizen Projects (Farm, Housing, Firefighting)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Remain in tableau; grant passive abilities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Discard if their PR requirement is no longer met at End Step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800600" y="868680"/>
            <a:ext cx="4206240" cy="12618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868680"/>
            <a:ext cx="4206240" cy="320040"/>
          </a:xfrm>
          <a:prstGeom prst="rect">
            <a:avLst/>
          </a:prstGeom>
          <a:solidFill>
            <a:srgbClr val="A07EC8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88696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02936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07E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892040" y="1216152"/>
            <a:ext cx="402336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3 cards dealt at game start; drawn via card effects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 ability in Negotiate; C ability in Consume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Single-use — discarded after play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Deck reshuffles when exhausted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800600" y="2221992"/>
            <a:ext cx="4206240" cy="12618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800600" y="2221992"/>
            <a:ext cx="4206240" cy="320040"/>
          </a:xfrm>
          <a:prstGeom prst="rect">
            <a:avLst/>
          </a:prstGeom>
          <a:solidFill>
            <a:srgbClr val="C86060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24028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02936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4892040" y="2569464"/>
            <a:ext cx="402336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Active rounds 2–7 only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Protest A/B  •  Severe Drought  •  Large Snow Melt  •  Supreme Court Session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Protest: lowest influence player takes penalty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Drought/Snow Melt: modifier applied to river water supply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PROJECTS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During the Consume phase, spend 1 Water Claim token to place 1 water on any project space. When all spaces are filled, the project pays out at the End Step.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335024"/>
            <a:ext cx="4114800" cy="768096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35024"/>
            <a:ext cx="50292" cy="768096"/>
          </a:xfrm>
          <a:prstGeom prst="rect">
            <a:avLst/>
          </a:prstGeom>
          <a:solidFill>
            <a:srgbClr val="3D8FA8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335024"/>
            <a:ext cx="411480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37160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WATERING A PROJECT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0934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 your turn in the Consume phase: spend 1 ◈ Water Claim token. Take 1 water cube from the river supply and place it on a project space of your choice. Multiple cubes can be placed across different turns.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335024"/>
            <a:ext cx="4023360" cy="768096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35024"/>
            <a:ext cx="50292" cy="768096"/>
          </a:xfrm>
          <a:prstGeom prst="rect">
            <a:avLst/>
          </a:prstGeom>
          <a:solidFill>
            <a:srgbClr val="7A3A18"/>
          </a:solidFill>
          <a:ln w="12700">
            <a:solidFill>
              <a:srgbClr val="7A3A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35024"/>
            <a:ext cx="402336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37160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3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INCOMPLETE PROJECT PENALTY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64608" y="1609344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End Step (from Round 3): leftover Water Claim tokens OR water on an incomplete project → lose 1 Water Rights. Partial water carries over to the next round.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267712"/>
            <a:ext cx="265176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267712"/>
            <a:ext cx="2651760" cy="274320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608" y="2267712"/>
            <a:ext cx="438912" cy="274320"/>
          </a:xfrm>
          <a:prstGeom prst="rect">
            <a:avLst/>
          </a:prstGeom>
          <a:solidFill>
            <a:srgbClr val="7EB87E">
              <a:alpha val="22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2677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57200" y="2304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CDE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🌾 FARM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16152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9928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2606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spaces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38912" y="2843784"/>
            <a:ext cx="2505456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8895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REWARD: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60704" y="288950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EB87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+4 ★ PR  +  Farmer Citizen card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2267712"/>
            <a:ext cx="265176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267712"/>
            <a:ext cx="2651760" cy="274320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13248" y="2267712"/>
            <a:ext cx="438912" cy="274320"/>
          </a:xfrm>
          <a:prstGeom prst="rect">
            <a:avLst/>
          </a:prstGeom>
          <a:solidFill>
            <a:srgbClr val="7EB87E">
              <a:alpha val="22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13248" y="22677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291840" y="2304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CDE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🏘 HOUSING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10128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57016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03904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50792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52544" y="2606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spaces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73552" y="2843784"/>
            <a:ext cx="2505456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28895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REWARD: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895344" y="288950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EB87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+2 ★ PR  +  Service Worker card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2267712"/>
            <a:ext cx="265176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2267712"/>
            <a:ext cx="2651760" cy="274320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47888" y="2267712"/>
            <a:ext cx="438912" cy="274320"/>
          </a:xfrm>
          <a:prstGeom prst="rect">
            <a:avLst/>
          </a:prstGeom>
          <a:solidFill>
            <a:srgbClr val="7EB87E">
              <a:alpha val="22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47888" y="22677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126480" y="2304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CDE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🔥 FIREFIGHTING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44768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91656" y="2596896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93408" y="2606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spaces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108192" y="2843784"/>
            <a:ext cx="2505456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44768" y="28895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REWARD: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729984" y="288950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EB87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+1 ★ PR  +  Firefighter card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3511296"/>
            <a:ext cx="265176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65760" y="3511296"/>
            <a:ext cx="2651760" cy="274320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78608" y="3511296"/>
            <a:ext cx="438912" cy="274320"/>
          </a:xfrm>
          <a:prstGeom prst="rect">
            <a:avLst/>
          </a:prstGeom>
          <a:solidFill>
            <a:srgbClr val="C8A550">
              <a:alpha val="22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78608" y="351129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57200" y="35478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CDE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🏭 FACTORY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5488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2376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9264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16152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63040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09928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11680" y="38496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spaces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" y="4087368"/>
            <a:ext cx="2505456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" y="41330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REWARD: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060704" y="413308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+$5  −3 ★ PR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00400" y="3511296"/>
            <a:ext cx="265176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200400" y="3511296"/>
            <a:ext cx="2651760" cy="274320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13248" y="3511296"/>
            <a:ext cx="438912" cy="274320"/>
          </a:xfrm>
          <a:prstGeom prst="rect">
            <a:avLst/>
          </a:prstGeom>
          <a:solidFill>
            <a:srgbClr val="C8A550">
              <a:alpha val="22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13248" y="351129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3291840" y="35478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CDE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🍇 VINEYARD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310128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57016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03904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050792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52544" y="38496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spaces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273552" y="4087368"/>
            <a:ext cx="2505456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10128" y="41330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REWARD: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3895344" y="413308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+$3  −2 ★ PR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035040" y="3511296"/>
            <a:ext cx="265176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035040" y="3511296"/>
            <a:ext cx="2651760" cy="274320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47888" y="3511296"/>
            <a:ext cx="438912" cy="274320"/>
          </a:xfrm>
          <a:prstGeom prst="rect">
            <a:avLst/>
          </a:prstGeom>
          <a:solidFill>
            <a:srgbClr val="C8A550">
              <a:alpha val="22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47888" y="351129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6126480" y="35478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CDE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⛳ RECREATION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144768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91656" y="3840480"/>
            <a:ext cx="182880" cy="182880"/>
          </a:xfrm>
          <a:prstGeom prst="ellipse">
            <a:avLst/>
          </a:prstGeom>
          <a:solidFill>
            <a:srgbClr val="342C20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93408" y="38496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spaces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108192" y="4087368"/>
            <a:ext cx="2505456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144768" y="41330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3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REWARD: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6729984" y="413308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+$1  −1 ★ PR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One Event card is revealed at the start of the Consume phase, rounds 2–7. The deck contains 9 cards: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20624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70432"/>
            <a:ext cx="4206240" cy="292608"/>
          </a:xfrm>
          <a:prstGeom prst="rect">
            <a:avLst/>
          </a:prstGeom>
          <a:solidFill>
            <a:srgbClr val="C86060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070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PROTEST 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0" y="12161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1499616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All players may use one Activist C ability to generate Protest Influence.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player(s) with the LOWEST influence lose −3 PR.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Ties split the penalty — all tied players are affected.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420624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14016"/>
            <a:ext cx="4206240" cy="292608"/>
          </a:xfrm>
          <a:prstGeom prst="rect">
            <a:avLst/>
          </a:prstGeom>
          <a:solidFill>
            <a:srgbClr val="C86060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505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PROTEST 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1920" y="245973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2743200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Same as Protest A, except the penalty is lower: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Lowest player(s) lose −1 PR and −1 Water Rights.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Activating Activists is optional; you may Pass immediately.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420624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4206240" cy="292608"/>
          </a:xfrm>
          <a:prstGeom prst="rect">
            <a:avLst/>
          </a:prstGeom>
          <a:solidFill>
            <a:srgbClr val="7A3A18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6941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3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🌵 SEVERE DROUGHT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31920" y="37033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3986784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Roll 1 d6 during water determination in the Consume phase.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Subtract that result from the total river water supply.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Minimum supply is 0 — the result cannot go negative.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1170432"/>
            <a:ext cx="420624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170432"/>
            <a:ext cx="4206240" cy="292608"/>
          </a:xfrm>
          <a:prstGeom prst="rect">
            <a:avLst/>
          </a:prstGeom>
          <a:solidFill>
            <a:srgbClr val="5DB8D4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12070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❄ LARGE SNOW MELT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66760" y="12161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0328" y="1499616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Roll 1 d6 during water determination in the Consume phase.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Add that result to the total river water supply.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 bonus round for all players — water projects are easier to fill.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414016"/>
            <a:ext cx="4206240" cy="1143000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414016"/>
            <a:ext cx="4206240" cy="292608"/>
          </a:xfrm>
          <a:prstGeom prst="rect">
            <a:avLst/>
          </a:prstGeom>
          <a:solidFill>
            <a:srgbClr val="C8A550">
              <a:alpha val="18000"/>
            </a:srgbClr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24505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⚖ SUPREME COURT SESSION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66760" y="245973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0328" y="2743200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SC case at the front of the docket becomes active.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Only the named plaintiff and defendant factions may use Lawyers to place SC Influence.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Highest influence wins the case (+1◈ +3VP +1★). Lowest loses (−1◈ −$2 −1★). Ties: no rewards or penalties.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4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LAWYERS &amp; PARTNERSHIPS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LAWYER CARD REFERENCE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819656" y="10972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03704" y="109728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REQ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52344" y="1097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ACTION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61688" y="1097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ACTION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1316736"/>
            <a:ext cx="5394960" cy="0"/>
          </a:xfrm>
          <a:prstGeom prst="line">
            <a:avLst/>
          </a:prstGeom>
          <a:noFill/>
          <a:ln w="9525">
            <a:solidFill>
              <a:srgbClr val="5648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353312"/>
            <a:ext cx="5440680" cy="329184"/>
          </a:xfrm>
          <a:prstGeom prst="rect">
            <a:avLst/>
          </a:prstGeom>
          <a:solidFill>
            <a:srgbClr val="161310"/>
          </a:solidFill>
          <a:ln w="3175">
            <a:solidFill>
              <a:srgbClr val="3D33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SNEAKY PETE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819656" y="13716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03704" y="13716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52344" y="13716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12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N: Pay 1◈ → gain $3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61688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8FA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C: Draw 1 Strategy card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" y="1691640"/>
            <a:ext cx="5440680" cy="329184"/>
          </a:xfrm>
          <a:prstGeom prst="rect">
            <a:avLst/>
          </a:prstGeom>
          <a:solidFill>
            <a:srgbClr val="1F1A12"/>
          </a:solidFill>
          <a:ln w="3175">
            <a:solidFill>
              <a:srgbClr val="3D33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709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ANTI-ENVIRONMENTALIST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19656" y="17099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03704" y="17099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 ≤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52344" y="17099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12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N: −1★ → gain 1 SC influence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61688" y="1709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8FA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C: −1★ → 2 SC inf.  OR  $2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" y="2029968"/>
            <a:ext cx="5440680" cy="329184"/>
          </a:xfrm>
          <a:prstGeom prst="rect">
            <a:avLst/>
          </a:prstGeom>
          <a:solidFill>
            <a:srgbClr val="161310"/>
          </a:solidFill>
          <a:ln w="3175">
            <a:solidFill>
              <a:srgbClr val="3D33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048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BONO ATTORNEY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19656" y="20482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03704" y="20482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 ≥ 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52344" y="20482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12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N: +1 Water Rights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61688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8FA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C: +1 SC inf.  OR  +1 VP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" y="2368296"/>
            <a:ext cx="5440680" cy="329184"/>
          </a:xfrm>
          <a:prstGeom prst="rect">
            <a:avLst/>
          </a:prstGeom>
          <a:solidFill>
            <a:srgbClr val="1F1A12"/>
          </a:solidFill>
          <a:ln w="3175">
            <a:solidFill>
              <a:srgbClr val="3D33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386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A JOB LAWYER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19656" y="23865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03704" y="238658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52344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12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N: Pay $2 → +1 Water Rights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61688" y="2386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8FA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C: +1 SC influence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9184" y="2706624"/>
            <a:ext cx="5440680" cy="329184"/>
          </a:xfrm>
          <a:prstGeom prst="rect">
            <a:avLst/>
          </a:prstGeom>
          <a:solidFill>
            <a:srgbClr val="161310"/>
          </a:solidFill>
          <a:ln w="3175">
            <a:solidFill>
              <a:srgbClr val="3D33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724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PLAYER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19656" y="27249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203704" y="272491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52344" y="2724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12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N: Pay $1 → +1 water cube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61688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8FA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C: Next lawyer −$3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" y="3044952"/>
            <a:ext cx="5440680" cy="329184"/>
          </a:xfrm>
          <a:prstGeom prst="rect">
            <a:avLst/>
          </a:prstGeom>
          <a:solidFill>
            <a:srgbClr val="1F1A12"/>
          </a:solidFill>
          <a:ln w="3175">
            <a:solidFill>
              <a:srgbClr val="3D33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WORKAHOLIC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19656" y="3063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203704" y="30632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52344" y="30632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12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N: —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361688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8FA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C: Next +1 water → +2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9184" y="3383280"/>
            <a:ext cx="5440680" cy="329184"/>
          </a:xfrm>
          <a:prstGeom prst="rect">
            <a:avLst/>
          </a:prstGeom>
          <a:solidFill>
            <a:srgbClr val="161310"/>
          </a:solidFill>
          <a:ln w="3175">
            <a:solidFill>
              <a:srgbClr val="3D33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RIDER OF COAT-TAILS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819656" y="34015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203704" y="34015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52344" y="34015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12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N: Copy costlier lawyer's N bonus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361688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8FA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C: Claim won SC reward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9184" y="3721608"/>
            <a:ext cx="5440680" cy="329184"/>
          </a:xfrm>
          <a:prstGeom prst="rect">
            <a:avLst/>
          </a:prstGeom>
          <a:solidFill>
            <a:srgbClr val="1F1A12"/>
          </a:solidFill>
          <a:ln w="3175">
            <a:solidFill>
              <a:srgbClr val="3D33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7398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IT FOR GLORY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819656" y="37398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55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$2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203704" y="373989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 ≤ 7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752344" y="37398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12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Passive: +1 VP each SC win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361688" y="3739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8FA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C: +1 SC influence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4078224"/>
            <a:ext cx="5394960" cy="402336"/>
          </a:xfrm>
          <a:prstGeom prst="rect">
            <a:avLst/>
          </a:prstGeom>
          <a:solidFill>
            <a:srgbClr val="29221A"/>
          </a:solidFill>
          <a:ln w="9525">
            <a:solidFill>
              <a:srgbClr val="8A6E3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114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⚖  Acquiring lawyers: pay printed cost + $4 surcharge. Surcharge waived if your PR is at or beyond −7 or +8 threshold markers.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989320" y="804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PARTNERSHIPS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89320" y="1115568"/>
            <a:ext cx="2926080" cy="1042416"/>
          </a:xfrm>
          <a:prstGeom prst="rect">
            <a:avLst/>
          </a:prstGeom>
          <a:solidFill>
            <a:srgbClr val="1F1A12"/>
          </a:solidFill>
          <a:ln w="12700">
            <a:solidFill>
              <a:srgbClr val="C8A55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274320" cy="27432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6364224" y="118872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 FIRM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6108192" y="14630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 cost: $4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6108192" y="1664208"/>
            <a:ext cx="2670048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108192" y="1709928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Pay $4 to acquire one Lawyer from the market without using the standard action.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5989320" y="2267712"/>
            <a:ext cx="2926080" cy="1042416"/>
          </a:xfrm>
          <a:prstGeom prst="rect">
            <a:avLst/>
          </a:prstGeom>
          <a:solidFill>
            <a:srgbClr val="1F1A12"/>
          </a:solidFill>
          <a:ln w="12700">
            <a:solidFill>
              <a:srgbClr val="7EB87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7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40864"/>
            <a:ext cx="274320" cy="274320"/>
          </a:xfrm>
          <a:prstGeom prst="rect">
            <a:avLst/>
          </a:prstGeom>
        </p:spPr>
      </p:pic>
      <p:sp>
        <p:nvSpPr>
          <p:cNvPr id="73" name="Text 69"/>
          <p:cNvSpPr/>
          <p:nvPr/>
        </p:nvSpPr>
        <p:spPr>
          <a:xfrm>
            <a:off x="6364224" y="234086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</a:t>
            </a:r>
            <a:endParaRPr lang="en-US" sz="950" dirty="0"/>
          </a:p>
        </p:txBody>
      </p:sp>
      <p:sp>
        <p:nvSpPr>
          <p:cNvPr id="74" name="Text 70"/>
          <p:cNvSpPr/>
          <p:nvPr/>
        </p:nvSpPr>
        <p:spPr>
          <a:xfrm>
            <a:off x="6108192" y="26151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 cost: $3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6108192" y="2816352"/>
            <a:ext cx="2670048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6108192" y="2862072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Pay $3 to acquire one Activist from the market. Required to acquire Activists at all.</a:t>
            </a:r>
            <a:endParaRPr lang="en-US" sz="950" dirty="0"/>
          </a:p>
        </p:txBody>
      </p:sp>
      <p:sp>
        <p:nvSpPr>
          <p:cNvPr id="77" name="Shape 73"/>
          <p:cNvSpPr/>
          <p:nvPr/>
        </p:nvSpPr>
        <p:spPr>
          <a:xfrm>
            <a:off x="5989320" y="3419856"/>
            <a:ext cx="2926080" cy="1042416"/>
          </a:xfrm>
          <a:prstGeom prst="rect">
            <a:avLst/>
          </a:prstGeom>
          <a:solidFill>
            <a:srgbClr val="1F1A12"/>
          </a:solidFill>
          <a:ln w="12700">
            <a:solidFill>
              <a:srgbClr val="7EB87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pic>
        <p:nvPicPr>
          <p:cNvPr id="7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493008"/>
            <a:ext cx="274320" cy="274320"/>
          </a:xfrm>
          <a:prstGeom prst="rect">
            <a:avLst/>
          </a:prstGeom>
        </p:spPr>
      </p:pic>
      <p:sp>
        <p:nvSpPr>
          <p:cNvPr id="79" name="Text 74"/>
          <p:cNvSpPr/>
          <p:nvPr/>
        </p:nvSpPr>
        <p:spPr>
          <a:xfrm>
            <a:off x="6364224" y="349300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B8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</a:t>
            </a:r>
            <a:endParaRPr lang="en-US" sz="950" dirty="0"/>
          </a:p>
        </p:txBody>
      </p:sp>
      <p:sp>
        <p:nvSpPr>
          <p:cNvPr id="80" name="Text 75"/>
          <p:cNvSpPr/>
          <p:nvPr/>
        </p:nvSpPr>
        <p:spPr>
          <a:xfrm>
            <a:off x="6108192" y="3767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 cost: $2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6108192" y="3968496"/>
            <a:ext cx="2670048" cy="0"/>
          </a:xfrm>
          <a:prstGeom prst="line">
            <a:avLst/>
          </a:prstGeom>
          <a:noFill/>
          <a:ln w="6350">
            <a:solidFill>
              <a:srgbClr val="3D3326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6108192" y="4014216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Pay $2 to immediately gain +1 PR.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3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SUPREME COURT &amp; WATER BANK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41248"/>
            <a:ext cx="91440" cy="91440"/>
          </a:xfrm>
          <a:prstGeom prst="ellipse">
            <a:avLst/>
          </a:prstGeom>
          <a:solidFill>
            <a:srgbClr val="C8A550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SUPREME COURT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4114800" cy="98755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15568"/>
            <a:ext cx="50292" cy="987552"/>
          </a:xfrm>
          <a:prstGeom prst="rect">
            <a:avLst/>
          </a:prstGeom>
          <a:solidFill>
            <a:srgbClr val="C8A550"/>
          </a:solidFill>
          <a:ln w="12700">
            <a:solidFill>
              <a:srgbClr val="C8A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15568"/>
            <a:ext cx="411480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152144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DOCKET SIZE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389888"/>
            <a:ext cx="3950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Cases in the docket depend on player count: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2P→1   3P→3   4P→6   5P→10   6P→15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Only cases matching active factions appear.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76272"/>
            <a:ext cx="4114800" cy="1024128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76272"/>
            <a:ext cx="50292" cy="1024128"/>
          </a:xfrm>
          <a:prstGeom prst="rect">
            <a:avLst/>
          </a:prstGeom>
          <a:solidFill>
            <a:srgbClr val="C8A550"/>
          </a:solidFill>
          <a:ln w="12700">
            <a:solidFill>
              <a:srgbClr val="C8A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76272"/>
            <a:ext cx="411480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12848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A CASE (SC Session Event)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450592"/>
            <a:ext cx="3950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Only the named Plaintiff and Defendant factions may use Lawyers to place SC Influence. Other players cannot participate. The highest influence wins; the lowest loses. Equal influence = tie, no effect.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4114800" cy="749808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73552"/>
            <a:ext cx="50292" cy="749808"/>
          </a:xfrm>
          <a:prstGeom prst="rect">
            <a:avLst/>
          </a:prstGeom>
          <a:solidFill>
            <a:srgbClr val="C8A550"/>
          </a:solidFill>
          <a:ln w="12700">
            <a:solidFill>
              <a:srgbClr val="C8A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73552"/>
            <a:ext cx="411480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310128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WINNING &amp; LOSING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547872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Win: +1 Water Rights  +3 VP  +1 PR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Lose: −1 Water Rights  −$2  −1 PR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Cases cycle to the back of the docket after resolution.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4114800" cy="658368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96512"/>
            <a:ext cx="50292" cy="658368"/>
          </a:xfrm>
          <a:prstGeom prst="rect">
            <a:avLst/>
          </a:prstGeom>
          <a:solidFill>
            <a:srgbClr val="7A3A18"/>
          </a:solidFill>
          <a:ln w="12700">
            <a:solidFill>
              <a:srgbClr val="7A3A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096512"/>
            <a:ext cx="411480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133088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3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RIDER OF COAT-TAILS (C ACTION)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70832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Claim a won SC case's winner reward without having been a party to it — only cases resolved this round.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841248"/>
            <a:ext cx="91440" cy="91440"/>
          </a:xfrm>
          <a:prstGeom prst="ellipse">
            <a:avLst/>
          </a:prstGeom>
          <a:solidFill>
            <a:srgbClr val="5DB8D4"/>
          </a:solidFill>
          <a:ln/>
        </p:spPr>
      </p:sp>
      <p:sp>
        <p:nvSpPr>
          <p:cNvPr id="30" name="Text 28"/>
          <p:cNvSpPr/>
          <p:nvPr/>
        </p:nvSpPr>
        <p:spPr>
          <a:xfrm>
            <a:off x="4992624" y="804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 BANK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115568"/>
            <a:ext cx="4023360" cy="80467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115568"/>
            <a:ext cx="50292" cy="804672"/>
          </a:xfrm>
          <a:prstGeom prst="rect">
            <a:avLst/>
          </a:prstGeom>
          <a:solidFill>
            <a:srgbClr val="5DB8D4"/>
          </a:solidFill>
          <a:ln w="12700">
            <a:solidFill>
              <a:srgbClr val="5DB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115568"/>
            <a:ext cx="402336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152144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64608" y="1389888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Pay $8 once to permanently unlock your Water Bank for the rest of the game. 9 cube capacity.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1993392"/>
            <a:ext cx="4023360" cy="932688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993392"/>
            <a:ext cx="50292" cy="932688"/>
          </a:xfrm>
          <a:prstGeom prst="rect">
            <a:avLst/>
          </a:prstGeom>
          <a:solidFill>
            <a:srgbClr val="3D8FA8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993392"/>
            <a:ext cx="402336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02996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64608" y="2267712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ANY player (not just the owner) may pay $1 per cube to the bank owner to store water cubes. Stored cubes are marked in the owner's colour.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999232"/>
            <a:ext cx="4023360" cy="749808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999232"/>
            <a:ext cx="50292" cy="749808"/>
          </a:xfrm>
          <a:prstGeom prst="rect">
            <a:avLst/>
          </a:prstGeom>
          <a:solidFill>
            <a:srgbClr val="5DB8D4"/>
          </a:solidFill>
          <a:ln w="12700">
            <a:solidFill>
              <a:srgbClr val="5DB8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999232"/>
            <a:ext cx="402336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03580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WITHDRAWALS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64608" y="327355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OWNER may retrieve any number of their stored cubes for free on any future turn, including in later rounds.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822192"/>
            <a:ext cx="4023360" cy="987552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92040" y="3877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DOCKET CYCLING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92040" y="4133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 →  [Front of docket resolves]  →  Moves to back of queue  →  Cycles through all cases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92040" y="4370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Each case eventually comes around again. Plan your lawyer investments accordingly.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3D8FA8">
              <a:alpha val="12000"/>
            </a:srgbClr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0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06824"/>
            <a:ext cx="9144000" cy="0"/>
          </a:xfrm>
          <a:prstGeom prst="line">
            <a:avLst/>
          </a:prstGeom>
          <a:noFill/>
          <a:ln w="31750">
            <a:solidFill>
              <a:srgbClr val="3D8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79976"/>
            <a:ext cx="9144000" cy="0"/>
          </a:xfrm>
          <a:prstGeom prst="line">
            <a:avLst/>
          </a:prstGeom>
          <a:noFill/>
          <a:ln w="12700">
            <a:solidFill>
              <a:srgbClr val="3D8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300" kern="0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&amp; QUICK REFERENCE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12700">
            <a:solidFill>
              <a:srgbClr val="5648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4980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74980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042416"/>
            <a:ext cx="420624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Each player selects a faction and sets their three track markers to starting values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Deal 3 Strategy cards to each player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Place 4 Lawyers and 4 Activists face-up in the shared markets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Shuffle and place the Event deck face-down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Assemble the SC docket with the appropriate number of cases for your player count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Determine the starting first-player marker (first game: youngest player)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540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" y="305409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61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ACTIONS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" y="3346704"/>
            <a:ext cx="4206240" cy="566928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3346704"/>
            <a:ext cx="50292" cy="566928"/>
          </a:xfrm>
          <a:prstGeom prst="rect">
            <a:avLst/>
          </a:prstGeom>
          <a:solidFill>
            <a:srgbClr val="C4612A"/>
          </a:solidFill>
          <a:ln w="12700">
            <a:solidFill>
              <a:srgbClr val="C461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3346704"/>
            <a:ext cx="420624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5488" y="3383280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461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NEGOTIATE (N)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75488" y="362102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Use Lawyer/Activist N ability • Play Strategy N • Buy Partnership • Pass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65760" y="3986784"/>
            <a:ext cx="4206240" cy="566928"/>
          </a:xfrm>
          <a:prstGeom prst="rect">
            <a:avLst/>
          </a:prstGeom>
          <a:solidFill>
            <a:srgbClr val="1F1A12"/>
          </a:solidFill>
          <a:ln w="9525">
            <a:solidFill>
              <a:srgbClr val="3D332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986784"/>
            <a:ext cx="50292" cy="566928"/>
          </a:xfrm>
          <a:prstGeom prst="rect">
            <a:avLst/>
          </a:prstGeom>
          <a:solidFill>
            <a:srgbClr val="3D8FA8"/>
          </a:solidFill>
          <a:ln w="12700">
            <a:solidFill>
              <a:srgbClr val="3D8FA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986784"/>
            <a:ext cx="4206240" cy="237744"/>
          </a:xfrm>
          <a:prstGeom prst="rect">
            <a:avLst/>
          </a:prstGeom>
          <a:solidFill>
            <a:srgbClr val="29221A"/>
          </a:solidFill>
          <a:ln w="12700">
            <a:solidFill>
              <a:srgbClr val="3D332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" y="4023360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 (C)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75488" y="426110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Use Lawyer/Activist C ability • Play Strategy C • Buy Partnership • Spend ◈ → water a project • Pass</a:t>
            </a:r>
            <a:endParaRPr lang="en-US" sz="9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74980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57216" y="74980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NUMBERS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846320" y="1042416"/>
            <a:ext cx="1828800" cy="530352"/>
          </a:xfrm>
          <a:prstGeom prst="rect">
            <a:avLst/>
          </a:prstGeom>
          <a:solidFill>
            <a:srgbClr val="29221A"/>
          </a:solidFill>
          <a:ln w="12700">
            <a:solidFill>
              <a:srgbClr val="C8A55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46320" y="1097280"/>
            <a:ext cx="18288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4846320" y="1334110"/>
            <a:ext cx="182880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rounds per game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4846320" y="1664208"/>
            <a:ext cx="1828800" cy="530352"/>
          </a:xfrm>
          <a:prstGeom prst="rect">
            <a:avLst/>
          </a:prstGeom>
          <a:solidFill>
            <a:srgbClr val="29221A"/>
          </a:solidFill>
          <a:ln w="12700">
            <a:solidFill>
              <a:srgbClr val="C8A55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46320" y="1719072"/>
            <a:ext cx="18288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4846320" y="1955902"/>
            <a:ext cx="182880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lawyer surcharge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4846320" y="2286000"/>
            <a:ext cx="1828800" cy="530352"/>
          </a:xfrm>
          <a:prstGeom prst="rect">
            <a:avLst/>
          </a:prstGeom>
          <a:solidFill>
            <a:srgbClr val="29221A"/>
          </a:solidFill>
          <a:ln w="12700">
            <a:solidFill>
              <a:srgbClr val="5DB8D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846320" y="2340864"/>
            <a:ext cx="18288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4846320" y="2577694"/>
            <a:ext cx="182880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 bank unlock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4846320" y="2907792"/>
            <a:ext cx="1828800" cy="530352"/>
          </a:xfrm>
          <a:prstGeom prst="rect">
            <a:avLst/>
          </a:prstGeom>
          <a:solidFill>
            <a:srgbClr val="29221A"/>
          </a:solidFill>
          <a:ln w="12700">
            <a:solidFill>
              <a:srgbClr val="5DB8D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46320" y="2962656"/>
            <a:ext cx="18288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4846320" y="3199486"/>
            <a:ext cx="182880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 bank capacity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6949440" y="1042416"/>
            <a:ext cx="1828800" cy="530352"/>
          </a:xfrm>
          <a:prstGeom prst="rect">
            <a:avLst/>
          </a:prstGeom>
          <a:solidFill>
            <a:srgbClr val="29221A"/>
          </a:solidFill>
          <a:ln w="12700">
            <a:solidFill>
              <a:srgbClr val="B0907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949440" y="1097280"/>
            <a:ext cx="18288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9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9" name="Text 34"/>
          <p:cNvSpPr/>
          <p:nvPr/>
        </p:nvSpPr>
        <p:spPr>
          <a:xfrm>
            <a:off x="6949440" y="1334110"/>
            <a:ext cx="182880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slots (each)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6949440" y="1664208"/>
            <a:ext cx="1828800" cy="530352"/>
          </a:xfrm>
          <a:prstGeom prst="rect">
            <a:avLst/>
          </a:prstGeom>
          <a:solidFill>
            <a:srgbClr val="29221A"/>
          </a:solidFill>
          <a:ln w="12700">
            <a:solidFill>
              <a:srgbClr val="A07EC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949440" y="1719072"/>
            <a:ext cx="18288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07E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42" name="Text 37"/>
          <p:cNvSpPr/>
          <p:nvPr/>
        </p:nvSpPr>
        <p:spPr>
          <a:xfrm>
            <a:off x="6949440" y="1955902"/>
            <a:ext cx="182880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cards at start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6949440" y="2286000"/>
            <a:ext cx="1828800" cy="530352"/>
          </a:xfrm>
          <a:prstGeom prst="rect">
            <a:avLst/>
          </a:prstGeom>
          <a:solidFill>
            <a:srgbClr val="29221A"/>
          </a:solidFill>
          <a:ln w="12700">
            <a:solidFill>
              <a:srgbClr val="C8A55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949440" y="2340864"/>
            <a:ext cx="18288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+3VP</a:t>
            </a:r>
            <a:endParaRPr lang="en-US" sz="2000" dirty="0"/>
          </a:p>
        </p:txBody>
      </p:sp>
      <p:sp>
        <p:nvSpPr>
          <p:cNvPr id="45" name="Text 40"/>
          <p:cNvSpPr/>
          <p:nvPr/>
        </p:nvSpPr>
        <p:spPr>
          <a:xfrm>
            <a:off x="6949440" y="2577694"/>
            <a:ext cx="182880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 case winner bonus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6949440" y="2907792"/>
            <a:ext cx="1828800" cy="530352"/>
          </a:xfrm>
          <a:prstGeom prst="rect">
            <a:avLst/>
          </a:prstGeom>
          <a:solidFill>
            <a:srgbClr val="29221A"/>
          </a:solidFill>
          <a:ln w="12700">
            <a:solidFill>
              <a:srgbClr val="C8606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949440" y="2962656"/>
            <a:ext cx="18288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6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2–7</a:t>
            </a:r>
            <a:endParaRPr lang="en-US" sz="2000" dirty="0"/>
          </a:p>
        </p:txBody>
      </p:sp>
      <p:sp>
        <p:nvSpPr>
          <p:cNvPr id="48" name="Text 43"/>
          <p:cNvSpPr/>
          <p:nvPr/>
        </p:nvSpPr>
        <p:spPr>
          <a:xfrm>
            <a:off x="6949440" y="3199486"/>
            <a:ext cx="182880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card rounds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4846320" y="3364992"/>
            <a:ext cx="4023360" cy="1115568"/>
          </a:xfrm>
          <a:prstGeom prst="rect">
            <a:avLst/>
          </a:prstGeom>
          <a:solidFill>
            <a:srgbClr val="1F1A12"/>
          </a:solidFill>
          <a:ln w="12700">
            <a:solidFill>
              <a:srgbClr val="8A6E3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50" name="Text 45"/>
          <p:cNvSpPr/>
          <p:nvPr/>
        </p:nvSpPr>
        <p:spPr>
          <a:xfrm>
            <a:off x="4983480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A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SOURCES AT A GLANCE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4983480" y="3675888"/>
            <a:ext cx="3749040" cy="0"/>
          </a:xfrm>
          <a:prstGeom prst="line">
            <a:avLst/>
          </a:prstGeom>
          <a:noFill/>
          <a:ln w="6350">
            <a:solidFill>
              <a:srgbClr val="564835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983480" y="3730752"/>
            <a:ext cx="374904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Track milestones (Water Rights, Money, PR)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SC Court wins (+3 VP each)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Citizens &amp; Activists (VP value printed on card)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B0907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In it for Glory passive: +1 VP per SC win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 of the River — Rulebook</dc:title>
  <dc:subject>PptxGenJS Presentation</dc:subject>
  <dc:creator>ProfessorZoltan</dc:creator>
  <cp:lastModifiedBy>ProfessorZoltan</cp:lastModifiedBy>
  <cp:revision>1</cp:revision>
  <dcterms:created xsi:type="dcterms:W3CDTF">2026-03-15T03:18:19Z</dcterms:created>
  <dcterms:modified xsi:type="dcterms:W3CDTF">2026-03-15T03:18:19Z</dcterms:modified>
</cp:coreProperties>
</file>